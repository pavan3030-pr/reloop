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45720" y="-45720"/>
            <a:ext cx="12283135" cy="6949440"/>
          </a:xfrm>
          <a:prstGeom prst="rect">
            <a:avLst/>
          </a:prstGeom>
          <a:solidFill>
            <a:srgbClr val="F7FA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22960" y="6345936"/>
            <a:ext cx="10545775" cy="10972"/>
          </a:xfrm>
          <a:prstGeom prst="rect">
            <a:avLst/>
          </a:prstGeom>
          <a:solidFill>
            <a:srgbClr val="DCE6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6437376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700"/>
              </a:spcAft>
            </a:pPr>
            <a:r>
              <a:rPr sz="950" b="0">
                <a:solidFill>
                  <a:srgbClr val="7C8C82"/>
                </a:solidFill>
                <a:latin typeface="Inter"/>
              </a:rPr>
              <a:t>ReLoop  ·  Team TechGaint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271455" y="6437376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8000"/>
              </a:lnSpc>
              <a:spcAft>
                <a:spcPts val="700"/>
              </a:spcAft>
            </a:pPr>
            <a:r>
              <a:rPr sz="950" b="0">
                <a:solidFill>
                  <a:srgbClr val="7C8C82"/>
                </a:solidFill>
                <a:latin typeface="Inter"/>
              </a:rPr>
              <a:t>1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12191695" cy="100584"/>
          </a:xfrm>
          <a:prstGeom prst="rect">
            <a:avLst/>
          </a:prstGeom>
          <a:solidFill>
            <a:srgbClr val="154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22960" y="1051560"/>
            <a:ext cx="713232" cy="713232"/>
          </a:xfrm>
          <a:prstGeom prst="roundRect">
            <a:avLst>
              <a:gd name="adj" fmla="val 22000"/>
            </a:avLst>
          </a:prstGeom>
          <a:solidFill>
            <a:srgbClr val="154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1207008"/>
            <a:ext cx="71323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8000"/>
              </a:lnSpc>
              <a:spcAft>
                <a:spcPts val="700"/>
              </a:spcAft>
            </a:pPr>
            <a:r>
              <a:rPr sz="2600" b="0">
                <a:solidFill>
                  <a:srgbClr val="FFFFFF"/>
                </a:solidFill>
                <a:latin typeface="Inter"/>
              </a:rPr>
              <a:t>♻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755648" y="1042415"/>
            <a:ext cx="45720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700"/>
              </a:spcAft>
            </a:pPr>
            <a:r>
              <a:rPr sz="3400" b="1">
                <a:solidFill>
                  <a:srgbClr val="15402E"/>
                </a:solidFill>
                <a:latin typeface="Inter"/>
              </a:rPr>
              <a:t>ReLoop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773936" y="1572768"/>
            <a:ext cx="4572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700"/>
              </a:spcAft>
            </a:pPr>
            <a:r>
              <a:rPr sz="1050" b="1">
                <a:solidFill>
                  <a:srgbClr val="7C8C82"/>
                </a:solidFill>
                <a:latin typeface="Inter"/>
              </a:rPr>
              <a:t>CIRCULAR WASTE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2331720"/>
            <a:ext cx="6949440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700"/>
              </a:spcAft>
            </a:pPr>
            <a:r>
              <a:rPr sz="3600" b="1">
                <a:solidFill>
                  <a:srgbClr val="15402E"/>
                </a:solidFill>
                <a:latin typeface="Inter"/>
              </a:rPr>
              <a:t>Give every piece of waste a better destination.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3977639"/>
            <a:ext cx="667512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700"/>
              </a:spcAft>
            </a:pPr>
            <a:r>
              <a:rPr sz="1450" b="0">
                <a:solidFill>
                  <a:srgbClr val="4A5A50"/>
                </a:solidFill>
                <a:latin typeface="Inter"/>
              </a:rPr>
              <a:t>ReLoop identifies waste with AI, connects households to verified collectors, and keeps a measured record of what was actually recovered.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2960" y="5349240"/>
            <a:ext cx="2148840" cy="384048"/>
          </a:xfrm>
          <a:prstGeom prst="roundRect">
            <a:avLst>
              <a:gd name="adj" fmla="val 50000"/>
            </a:avLst>
          </a:prstGeom>
          <a:solidFill>
            <a:srgbClr val="154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60" y="5445252"/>
            <a:ext cx="214884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8000"/>
              </a:lnSpc>
              <a:spcAft>
                <a:spcPts val="700"/>
              </a:spcAft>
            </a:pPr>
            <a:r>
              <a:rPr sz="1200" b="1">
                <a:solidFill>
                  <a:srgbClr val="FFFFFF"/>
                </a:solidFill>
                <a:latin typeface="Inter"/>
              </a:rPr>
              <a:t>Team TechGaint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154679" y="5349240"/>
            <a:ext cx="2788920" cy="384048"/>
          </a:xfrm>
          <a:prstGeom prst="roundRect">
            <a:avLst>
              <a:gd name="adj" fmla="val 50000"/>
            </a:avLst>
          </a:prstGeom>
          <a:solidFill>
            <a:srgbClr val="E5EE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154679" y="5445252"/>
            <a:ext cx="278892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8000"/>
              </a:lnSpc>
              <a:spcAft>
                <a:spcPts val="700"/>
              </a:spcAft>
            </a:pPr>
            <a:r>
              <a:rPr sz="1200" b="1">
                <a:solidFill>
                  <a:srgbClr val="15402E"/>
                </a:solidFill>
                <a:latin typeface="Inter"/>
              </a:rPr>
              <a:t>SANKALP Climate Edition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732520" y="1371600"/>
            <a:ext cx="2633472" cy="84124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CE6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8732520" y="1517904"/>
            <a:ext cx="64008" cy="548640"/>
          </a:xfrm>
          <a:prstGeom prst="roundRect">
            <a:avLst>
              <a:gd name="adj" fmla="val 50000"/>
            </a:avLst>
          </a:prstGeom>
          <a:solidFill>
            <a:srgbClr val="84A9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979408" y="1517904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700"/>
              </a:spcAft>
            </a:pPr>
            <a:r>
              <a:rPr sz="1200" b="1">
                <a:solidFill>
                  <a:srgbClr val="84A98C"/>
                </a:solidFill>
                <a:latin typeface="Inter"/>
              </a:rPr>
              <a:t>01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979408" y="1773936"/>
            <a:ext cx="21945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700"/>
              </a:spcAft>
            </a:pPr>
            <a:r>
              <a:rPr sz="1250" b="1">
                <a:solidFill>
                  <a:srgbClr val="15402E"/>
                </a:solidFill>
                <a:latin typeface="Inter"/>
              </a:rPr>
              <a:t>Scan an item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732520" y="2414015"/>
            <a:ext cx="2633472" cy="84124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CE6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8732520" y="2560320"/>
            <a:ext cx="64008" cy="548640"/>
          </a:xfrm>
          <a:prstGeom prst="roundRect">
            <a:avLst>
              <a:gd name="adj" fmla="val 50000"/>
            </a:avLst>
          </a:prstGeom>
          <a:solidFill>
            <a:srgbClr val="84A9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979408" y="2560320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700"/>
              </a:spcAft>
            </a:pPr>
            <a:r>
              <a:rPr sz="1200" b="1">
                <a:solidFill>
                  <a:srgbClr val="84A98C"/>
                </a:solidFill>
                <a:latin typeface="Inter"/>
              </a:rPr>
              <a:t>02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979408" y="2816351"/>
            <a:ext cx="21945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700"/>
              </a:spcAft>
            </a:pPr>
            <a:r>
              <a:rPr sz="1250" b="1">
                <a:solidFill>
                  <a:srgbClr val="15402E"/>
                </a:solidFill>
                <a:latin typeface="Inter"/>
              </a:rPr>
              <a:t>Understand it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732520" y="3456431"/>
            <a:ext cx="2633472" cy="84124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CE6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8732520" y="3602735"/>
            <a:ext cx="64008" cy="548640"/>
          </a:xfrm>
          <a:prstGeom prst="roundRect">
            <a:avLst>
              <a:gd name="adj" fmla="val 50000"/>
            </a:avLst>
          </a:prstGeom>
          <a:solidFill>
            <a:srgbClr val="84A9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979408" y="3602735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700"/>
              </a:spcAft>
            </a:pPr>
            <a:r>
              <a:rPr sz="1200" b="1">
                <a:solidFill>
                  <a:srgbClr val="84A98C"/>
                </a:solidFill>
                <a:latin typeface="Inter"/>
              </a:rPr>
              <a:t>03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979408" y="3858768"/>
            <a:ext cx="21945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700"/>
              </a:spcAft>
            </a:pPr>
            <a:r>
              <a:rPr sz="1250" b="1">
                <a:solidFill>
                  <a:srgbClr val="15402E"/>
                </a:solidFill>
                <a:latin typeface="Inter"/>
              </a:rPr>
              <a:t>Get it collected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732520" y="4498847"/>
            <a:ext cx="2633472" cy="84124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CE6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8732520" y="4645151"/>
            <a:ext cx="64008" cy="548640"/>
          </a:xfrm>
          <a:prstGeom prst="roundRect">
            <a:avLst>
              <a:gd name="adj" fmla="val 50000"/>
            </a:avLst>
          </a:prstGeom>
          <a:solidFill>
            <a:srgbClr val="84A9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979408" y="4645151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700"/>
              </a:spcAft>
            </a:pPr>
            <a:r>
              <a:rPr sz="1200" b="1">
                <a:solidFill>
                  <a:srgbClr val="84A98C"/>
                </a:solidFill>
                <a:latin typeface="Inter"/>
              </a:rPr>
              <a:t>04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979408" y="4901183"/>
            <a:ext cx="21945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700"/>
              </a:spcAft>
            </a:pPr>
            <a:r>
              <a:rPr sz="1250" b="1">
                <a:solidFill>
                  <a:srgbClr val="15402E"/>
                </a:solidFill>
                <a:latin typeface="Inter"/>
              </a:rPr>
              <a:t>Prove it was recovered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45720" y="-45720"/>
            <a:ext cx="12283135" cy="6949440"/>
          </a:xfrm>
          <a:prstGeom prst="rect">
            <a:avLst/>
          </a:prstGeom>
          <a:solidFill>
            <a:srgbClr val="F7FA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22960" y="6345936"/>
            <a:ext cx="10545775" cy="10972"/>
          </a:xfrm>
          <a:prstGeom prst="rect">
            <a:avLst/>
          </a:prstGeom>
          <a:solidFill>
            <a:srgbClr val="DCE6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6437376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700"/>
              </a:spcAft>
            </a:pPr>
            <a:r>
              <a:rPr sz="950" b="0">
                <a:solidFill>
                  <a:srgbClr val="7C8C82"/>
                </a:solidFill>
                <a:latin typeface="Inter"/>
              </a:rPr>
              <a:t>ReLoop  ·  Team TechGaint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271455" y="6437376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8000"/>
              </a:lnSpc>
              <a:spcAft>
                <a:spcPts val="700"/>
              </a:spcAft>
            </a:pPr>
            <a:r>
              <a:rPr sz="950" b="0">
                <a:solidFill>
                  <a:srgbClr val="7C8C82"/>
                </a:solidFill>
                <a:latin typeface="Inter"/>
              </a:rPr>
              <a:t>2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12191695" cy="77724"/>
          </a:xfrm>
          <a:prstGeom prst="rect">
            <a:avLst/>
          </a:prstGeom>
          <a:solidFill>
            <a:srgbClr val="154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45720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700"/>
              </a:spcAft>
            </a:pPr>
            <a:r>
              <a:rPr sz="1150" b="1">
                <a:solidFill>
                  <a:srgbClr val="5B7A63"/>
                </a:solidFill>
                <a:latin typeface="Inter"/>
              </a:rPr>
              <a:t>THE PROBLEM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749808"/>
            <a:ext cx="10545775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3000" b="1">
                <a:solidFill>
                  <a:srgbClr val="15402E"/>
                </a:solidFill>
                <a:latin typeface="Inter"/>
              </a:rPr>
              <a:t>Most waste is thrown away on a guess.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1591056"/>
            <a:ext cx="99669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700"/>
              </a:spcAft>
            </a:pPr>
            <a:r>
              <a:rPr sz="1300" b="0">
                <a:solidFill>
                  <a:srgbClr val="4A5A50"/>
                </a:solidFill>
                <a:latin typeface="Inter"/>
              </a:rPr>
              <a:t>Recycling fails long before the facility. It fails at the moment of decision — when nobody can answer a simple question about the thing in your hand.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" y="2487168"/>
            <a:ext cx="5112867" cy="1207008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DCE6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822960" y="2633472"/>
            <a:ext cx="68580" cy="914400"/>
          </a:xfrm>
          <a:prstGeom prst="roundRect">
            <a:avLst>
              <a:gd name="adj" fmla="val 50000"/>
            </a:avLst>
          </a:prstGeom>
          <a:solidFill>
            <a:srgbClr val="84A9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33856" y="2706624"/>
            <a:ext cx="449107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700"/>
              </a:spcAft>
            </a:pPr>
            <a:r>
              <a:rPr sz="1200" b="1">
                <a:solidFill>
                  <a:srgbClr val="84A98C"/>
                </a:solidFill>
                <a:latin typeface="Inter"/>
              </a:rPr>
              <a:t>01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33856" y="3017520"/>
            <a:ext cx="449107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700"/>
              </a:spcAft>
            </a:pPr>
            <a:r>
              <a:rPr sz="1500" b="1">
                <a:solidFill>
                  <a:srgbClr val="15402E"/>
                </a:solidFill>
                <a:latin typeface="Inter"/>
              </a:rPr>
              <a:t>What is this material, really?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55867" y="2487168"/>
            <a:ext cx="5112867" cy="1207008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DCE6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255867" y="2633472"/>
            <a:ext cx="68580" cy="914400"/>
          </a:xfrm>
          <a:prstGeom prst="roundRect">
            <a:avLst>
              <a:gd name="adj" fmla="val 50000"/>
            </a:avLst>
          </a:prstGeom>
          <a:solidFill>
            <a:srgbClr val="84A9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66763" y="2706624"/>
            <a:ext cx="449107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700"/>
              </a:spcAft>
            </a:pPr>
            <a:r>
              <a:rPr sz="1200" b="1">
                <a:solidFill>
                  <a:srgbClr val="84A98C"/>
                </a:solidFill>
                <a:latin typeface="Inter"/>
              </a:rPr>
              <a:t>02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66763" y="3017520"/>
            <a:ext cx="449107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700"/>
              </a:spcAft>
            </a:pPr>
            <a:r>
              <a:rPr sz="1500" b="1">
                <a:solidFill>
                  <a:srgbClr val="15402E"/>
                </a:solidFill>
                <a:latin typeface="Inter"/>
              </a:rPr>
              <a:t>Can it be recycled at all — or is it hazardous?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22960" y="3968496"/>
            <a:ext cx="5112867" cy="1207008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DCE6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822960" y="4114800"/>
            <a:ext cx="68580" cy="914400"/>
          </a:xfrm>
          <a:prstGeom prst="roundRect">
            <a:avLst>
              <a:gd name="adj" fmla="val 50000"/>
            </a:avLst>
          </a:prstGeom>
          <a:solidFill>
            <a:srgbClr val="84A9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133856" y="4187952"/>
            <a:ext cx="449107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700"/>
              </a:spcAft>
            </a:pPr>
            <a:r>
              <a:rPr sz="1200" b="1">
                <a:solidFill>
                  <a:srgbClr val="84A98C"/>
                </a:solidFill>
                <a:latin typeface="Inter"/>
              </a:rPr>
              <a:t>03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33856" y="4498848"/>
            <a:ext cx="449107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700"/>
              </a:spcAft>
            </a:pPr>
            <a:r>
              <a:rPr sz="1500" b="1">
                <a:solidFill>
                  <a:srgbClr val="15402E"/>
                </a:solidFill>
                <a:latin typeface="Inter"/>
              </a:rPr>
              <a:t>Where do I take it, and does it accept my material?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55867" y="3968496"/>
            <a:ext cx="5112867" cy="1207008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DCE6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6255867" y="4114800"/>
            <a:ext cx="68580" cy="914400"/>
          </a:xfrm>
          <a:prstGeom prst="roundRect">
            <a:avLst>
              <a:gd name="adj" fmla="val 50000"/>
            </a:avLst>
          </a:prstGeom>
          <a:solidFill>
            <a:srgbClr val="84A9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566763" y="4187952"/>
            <a:ext cx="449107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700"/>
              </a:spcAft>
            </a:pPr>
            <a:r>
              <a:rPr sz="1200" b="1">
                <a:solidFill>
                  <a:srgbClr val="84A98C"/>
                </a:solidFill>
                <a:latin typeface="Inter"/>
              </a:rPr>
              <a:t>04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66763" y="4498848"/>
            <a:ext cx="449107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700"/>
              </a:spcAft>
            </a:pPr>
            <a:r>
              <a:rPr sz="1500" b="1">
                <a:solidFill>
                  <a:srgbClr val="15402E"/>
                </a:solidFill>
                <a:latin typeface="Inter"/>
              </a:rPr>
              <a:t>What actually happened after it was collected?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2960" y="5468112"/>
            <a:ext cx="1054577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700"/>
              </a:spcAft>
            </a:pPr>
            <a:r>
              <a:rPr sz="1250" b="0">
                <a:solidFill>
                  <a:srgbClr val="7C8C82"/>
                </a:solidFill>
                <a:latin typeface="Inter"/>
              </a:rPr>
              <a:t>A household cannot act on an answer it never gets — so material that could loop back goes to landfill instead.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45720" y="-45720"/>
            <a:ext cx="12283135" cy="6949440"/>
          </a:xfrm>
          <a:prstGeom prst="rect">
            <a:avLst/>
          </a:prstGeom>
          <a:solidFill>
            <a:srgbClr val="F7FA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22960" y="6345936"/>
            <a:ext cx="10545775" cy="10972"/>
          </a:xfrm>
          <a:prstGeom prst="rect">
            <a:avLst/>
          </a:prstGeom>
          <a:solidFill>
            <a:srgbClr val="DCE6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6437376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700"/>
              </a:spcAft>
            </a:pPr>
            <a:r>
              <a:rPr sz="950" b="0">
                <a:solidFill>
                  <a:srgbClr val="7C8C82"/>
                </a:solidFill>
                <a:latin typeface="Inter"/>
              </a:rPr>
              <a:t>ReLoop  ·  Team TechGaint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271455" y="6437376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8000"/>
              </a:lnSpc>
              <a:spcAft>
                <a:spcPts val="700"/>
              </a:spcAft>
            </a:pPr>
            <a:r>
              <a:rPr sz="950" b="0">
                <a:solidFill>
                  <a:srgbClr val="7C8C82"/>
                </a:solidFill>
                <a:latin typeface="Inter"/>
              </a:rPr>
              <a:t>3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12191695" cy="77724"/>
          </a:xfrm>
          <a:prstGeom prst="rect">
            <a:avLst/>
          </a:prstGeom>
          <a:solidFill>
            <a:srgbClr val="154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45720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700"/>
              </a:spcAft>
            </a:pPr>
            <a:r>
              <a:rPr sz="1150" b="1">
                <a:solidFill>
                  <a:srgbClr val="5B7A63"/>
                </a:solidFill>
                <a:latin typeface="Inter"/>
              </a:rPr>
              <a:t>THE IDEA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749808"/>
            <a:ext cx="10545775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3000" b="1">
                <a:solidFill>
                  <a:srgbClr val="15402E"/>
                </a:solidFill>
                <a:latin typeface="Inter"/>
              </a:rPr>
              <a:t>Photograph it, then follow it to recovery.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1591056"/>
            <a:ext cx="99669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700"/>
              </a:spcAft>
            </a:pPr>
            <a:r>
              <a:rPr sz="1300" b="0">
                <a:solidFill>
                  <a:srgbClr val="4A5A50"/>
                </a:solidFill>
                <a:latin typeface="Inter"/>
              </a:rPr>
              <a:t>Four steps, one loop, and a real weight at the end of it.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" y="2331720"/>
            <a:ext cx="2450592" cy="233172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DCE6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822960" y="2478024"/>
            <a:ext cx="68580" cy="2039112"/>
          </a:xfrm>
          <a:prstGeom prst="roundRect">
            <a:avLst>
              <a:gd name="adj" fmla="val 50000"/>
            </a:avLst>
          </a:prstGeom>
          <a:solidFill>
            <a:srgbClr val="154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33856" y="2551176"/>
            <a:ext cx="1828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700"/>
              </a:spcAft>
            </a:pPr>
            <a:r>
              <a:rPr sz="1200" b="1">
                <a:solidFill>
                  <a:srgbClr val="84A98C"/>
                </a:solidFill>
                <a:latin typeface="Inter"/>
              </a:rPr>
              <a:t>01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33856" y="2862072"/>
            <a:ext cx="1828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700"/>
              </a:spcAft>
            </a:pPr>
            <a:r>
              <a:rPr sz="1500" b="1">
                <a:solidFill>
                  <a:srgbClr val="15402E"/>
                </a:solidFill>
                <a:latin typeface="Inter"/>
              </a:rPr>
              <a:t>Scan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33856" y="3282696"/>
            <a:ext cx="1828800" cy="116128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500"/>
              </a:spcAft>
            </a:pPr>
            <a:r>
              <a:rPr sz="1150" b="0">
                <a:solidFill>
                  <a:srgbClr val="4A5A50"/>
                </a:solidFill>
                <a:latin typeface="Inter"/>
              </a:rPr>
              <a:t>Photograph the item, or record it manually if the picture is unclear.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3287268" y="3383280"/>
            <a:ext cx="237744" cy="237744"/>
          </a:xfrm>
          <a:prstGeom prst="rightArrow">
            <a:avLst/>
          </a:prstGeom>
          <a:solidFill>
            <a:srgbClr val="84A9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3538728" y="2331720"/>
            <a:ext cx="2450592" cy="233172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DCE6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3538728" y="2478024"/>
            <a:ext cx="68580" cy="2039112"/>
          </a:xfrm>
          <a:prstGeom prst="roundRect">
            <a:avLst>
              <a:gd name="adj" fmla="val 50000"/>
            </a:avLst>
          </a:prstGeom>
          <a:solidFill>
            <a:srgbClr val="84A9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849624" y="2551176"/>
            <a:ext cx="1828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700"/>
              </a:spcAft>
            </a:pPr>
            <a:r>
              <a:rPr sz="1200" b="1">
                <a:solidFill>
                  <a:srgbClr val="84A98C"/>
                </a:solidFill>
                <a:latin typeface="Inter"/>
              </a:rPr>
              <a:t>02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849624" y="2862072"/>
            <a:ext cx="1828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700"/>
              </a:spcAft>
            </a:pPr>
            <a:r>
              <a:rPr sz="1500" b="1">
                <a:solidFill>
                  <a:srgbClr val="15402E"/>
                </a:solidFill>
                <a:latin typeface="Inter"/>
              </a:rPr>
              <a:t>Understand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849624" y="3282696"/>
            <a:ext cx="1828800" cy="116128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500"/>
              </a:spcAft>
            </a:pPr>
            <a:r>
              <a:rPr sz="1150" b="0">
                <a:solidFill>
                  <a:srgbClr val="4A5A50"/>
                </a:solidFill>
                <a:latin typeface="Inter"/>
              </a:rPr>
              <a:t>Get the material, category, confidence, hazards and disposal guidance.</a:t>
            </a:r>
          </a:p>
        </p:txBody>
      </p:sp>
      <p:sp>
        <p:nvSpPr>
          <p:cNvPr id="21" name="Right Arrow 20"/>
          <p:cNvSpPr/>
          <p:nvPr/>
        </p:nvSpPr>
        <p:spPr>
          <a:xfrm>
            <a:off x="6003036" y="3383280"/>
            <a:ext cx="237744" cy="237744"/>
          </a:xfrm>
          <a:prstGeom prst="rightArrow">
            <a:avLst/>
          </a:prstGeom>
          <a:solidFill>
            <a:srgbClr val="84A9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6254496" y="2331720"/>
            <a:ext cx="2450592" cy="233172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DCE6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6254496" y="2478024"/>
            <a:ext cx="68580" cy="2039112"/>
          </a:xfrm>
          <a:prstGeom prst="roundRect">
            <a:avLst>
              <a:gd name="adj" fmla="val 50000"/>
            </a:avLst>
          </a:prstGeom>
          <a:solidFill>
            <a:srgbClr val="84A9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565392" y="2551176"/>
            <a:ext cx="1828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700"/>
              </a:spcAft>
            </a:pPr>
            <a:r>
              <a:rPr sz="1200" b="1">
                <a:solidFill>
                  <a:srgbClr val="84A98C"/>
                </a:solidFill>
                <a:latin typeface="Inter"/>
              </a:rPr>
              <a:t>03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65392" y="2862072"/>
            <a:ext cx="1828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700"/>
              </a:spcAft>
            </a:pPr>
            <a:r>
              <a:rPr sz="1500" b="1">
                <a:solidFill>
                  <a:srgbClr val="15402E"/>
                </a:solidFill>
                <a:latin typeface="Inter"/>
              </a:rPr>
              <a:t>Connect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65392" y="3282696"/>
            <a:ext cx="1828800" cy="116128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500"/>
              </a:spcAft>
            </a:pPr>
            <a:r>
              <a:rPr sz="1150" b="0">
                <a:solidFill>
                  <a:srgbClr val="4A5A50"/>
                </a:solidFill>
                <a:latin typeface="Inter"/>
              </a:rPr>
              <a:t>Find a verified drop-off point nearby, or book a pickup at home.</a:t>
            </a:r>
          </a:p>
        </p:txBody>
      </p:sp>
      <p:sp>
        <p:nvSpPr>
          <p:cNvPr id="27" name="Right Arrow 26"/>
          <p:cNvSpPr/>
          <p:nvPr/>
        </p:nvSpPr>
        <p:spPr>
          <a:xfrm>
            <a:off x="8718804" y="3383280"/>
            <a:ext cx="237744" cy="237744"/>
          </a:xfrm>
          <a:prstGeom prst="rightArrow">
            <a:avLst/>
          </a:prstGeom>
          <a:solidFill>
            <a:srgbClr val="84A9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8970264" y="2331720"/>
            <a:ext cx="2450592" cy="233172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DCE6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8970264" y="2478024"/>
            <a:ext cx="68580" cy="2039112"/>
          </a:xfrm>
          <a:prstGeom prst="roundRect">
            <a:avLst>
              <a:gd name="adj" fmla="val 50000"/>
            </a:avLst>
          </a:prstGeom>
          <a:solidFill>
            <a:srgbClr val="84A9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281160" y="2551176"/>
            <a:ext cx="1828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700"/>
              </a:spcAft>
            </a:pPr>
            <a:r>
              <a:rPr sz="1200" b="1">
                <a:solidFill>
                  <a:srgbClr val="84A98C"/>
                </a:solidFill>
                <a:latin typeface="Inter"/>
              </a:rPr>
              <a:t>04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281160" y="2862072"/>
            <a:ext cx="1828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700"/>
              </a:spcAft>
            </a:pPr>
            <a:r>
              <a:rPr sz="1500" b="1">
                <a:solidFill>
                  <a:srgbClr val="15402E"/>
                </a:solidFill>
                <a:latin typeface="Inter"/>
              </a:rPr>
              <a:t>Recover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281160" y="3282696"/>
            <a:ext cx="1828800" cy="116128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500"/>
              </a:spcAft>
            </a:pPr>
            <a:r>
              <a:rPr sz="1150" b="0">
                <a:solidFill>
                  <a:srgbClr val="4A5A50"/>
                </a:solidFill>
                <a:latin typeface="Inter"/>
              </a:rPr>
              <a:t>Follow the pickup to processing and see the kilograms really recovered.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22960" y="4983480"/>
            <a:ext cx="10545775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700"/>
              </a:spcAft>
            </a:pPr>
            <a:r>
              <a:rPr sz="1200" b="0">
                <a:solidFill>
                  <a:srgbClr val="7C8C82"/>
                </a:solidFill>
                <a:latin typeface="Inter"/>
              </a:rPr>
              <a:t>Every stage is enforced server-side: a pickup cannot jump from requested to recovered, and a collector can only act on work assigned to their own organisation.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45720" y="-45720"/>
            <a:ext cx="12283135" cy="6949440"/>
          </a:xfrm>
          <a:prstGeom prst="rect">
            <a:avLst/>
          </a:prstGeom>
          <a:solidFill>
            <a:srgbClr val="F7FA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22960" y="6345936"/>
            <a:ext cx="10545775" cy="10972"/>
          </a:xfrm>
          <a:prstGeom prst="rect">
            <a:avLst/>
          </a:prstGeom>
          <a:solidFill>
            <a:srgbClr val="DCE6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6437376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700"/>
              </a:spcAft>
            </a:pPr>
            <a:r>
              <a:rPr sz="950" b="0">
                <a:solidFill>
                  <a:srgbClr val="7C8C82"/>
                </a:solidFill>
                <a:latin typeface="Inter"/>
              </a:rPr>
              <a:t>ReLoop  ·  Team TechGaint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271455" y="6437376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8000"/>
              </a:lnSpc>
              <a:spcAft>
                <a:spcPts val="700"/>
              </a:spcAft>
            </a:pPr>
            <a:r>
              <a:rPr sz="950" b="0">
                <a:solidFill>
                  <a:srgbClr val="7C8C82"/>
                </a:solidFill>
                <a:latin typeface="Inter"/>
              </a:rPr>
              <a:t>4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12191695" cy="77724"/>
          </a:xfrm>
          <a:prstGeom prst="rect">
            <a:avLst/>
          </a:prstGeom>
          <a:solidFill>
            <a:srgbClr val="154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45720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700"/>
              </a:spcAft>
            </a:pPr>
            <a:r>
              <a:rPr sz="1150" b="1">
                <a:solidFill>
                  <a:srgbClr val="5B7A63"/>
                </a:solidFill>
                <a:latin typeface="Inter"/>
              </a:rPr>
              <a:t>THE PRODUCT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749808"/>
            <a:ext cx="10545775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3000" b="1">
                <a:solidFill>
                  <a:srgbClr val="15402E"/>
                </a:solidFill>
                <a:latin typeface="Inter"/>
              </a:rPr>
              <a:t>Three surfaces, one loop.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1591056"/>
            <a:ext cx="99669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700"/>
              </a:spcAft>
            </a:pPr>
            <a:r>
              <a:rPr sz="1300" b="0">
                <a:solidFill>
                  <a:srgbClr val="4A5A50"/>
                </a:solidFill>
                <a:latin typeface="Inter"/>
              </a:rPr>
              <a:t>All three are built and working today — this is a product walkthrough, not a mock-up.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" y="2331720"/>
            <a:ext cx="3332378" cy="32004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DCE6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822960" y="2478024"/>
            <a:ext cx="68580" cy="2907792"/>
          </a:xfrm>
          <a:prstGeom prst="roundRect">
            <a:avLst>
              <a:gd name="adj" fmla="val 50000"/>
            </a:avLst>
          </a:prstGeom>
          <a:solidFill>
            <a:srgbClr val="84A9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33856" y="2551176"/>
            <a:ext cx="271058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700"/>
              </a:spcAft>
            </a:pPr>
            <a:r>
              <a:rPr sz="1600" b="1">
                <a:solidFill>
                  <a:srgbClr val="15402E"/>
                </a:solidFill>
                <a:latin typeface="Inter"/>
              </a:rPr>
              <a:t>AI waste scan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33856" y="2971800"/>
            <a:ext cx="2710586" cy="234086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500"/>
              </a:spcAft>
            </a:pPr>
            <a:r>
              <a:rPr sz="1150" b="0">
                <a:solidFill>
                  <a:srgbClr val="4A5A50"/>
                </a:solidFill>
                <a:latin typeface="Inter"/>
              </a:rPr>
              <a:t>The backend calls Gemini and returns a structured reading: item, category, confidence, recyclability, hazards and a disposal instruction. If the provider is unavailable the app says so and offers manual classification — it never invents a result.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429658" y="2331720"/>
            <a:ext cx="3332378" cy="32004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DCE6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4429658" y="2478024"/>
            <a:ext cx="68580" cy="2907792"/>
          </a:xfrm>
          <a:prstGeom prst="roundRect">
            <a:avLst>
              <a:gd name="adj" fmla="val 50000"/>
            </a:avLst>
          </a:prstGeom>
          <a:solidFill>
            <a:srgbClr val="84A9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740554" y="2551176"/>
            <a:ext cx="271058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700"/>
              </a:spcAft>
            </a:pPr>
            <a:r>
              <a:rPr sz="1600" b="1">
                <a:solidFill>
                  <a:srgbClr val="15402E"/>
                </a:solidFill>
                <a:latin typeface="Inter"/>
              </a:rPr>
              <a:t>Collection points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740554" y="2971800"/>
            <a:ext cx="2710586" cy="234086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500"/>
              </a:spcAft>
            </a:pPr>
            <a:r>
              <a:rPr sz="1150" b="0">
                <a:solidFill>
                  <a:srgbClr val="4A5A50"/>
                </a:solidFill>
                <a:latin typeface="Inter"/>
              </a:rPr>
              <a:t>A directory and map of verified drop-off points with the materials each one accepts, opening hours and distance from the user. Verified and unverified records are labelled differently and never merged.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36356" y="2331720"/>
            <a:ext cx="3332378" cy="32004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DCE6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8036356" y="2478024"/>
            <a:ext cx="68580" cy="2907792"/>
          </a:xfrm>
          <a:prstGeom prst="roundRect">
            <a:avLst>
              <a:gd name="adj" fmla="val 50000"/>
            </a:avLst>
          </a:prstGeom>
          <a:solidFill>
            <a:srgbClr val="84A9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347252" y="2551176"/>
            <a:ext cx="271058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700"/>
              </a:spcAft>
            </a:pPr>
            <a:r>
              <a:rPr sz="1600" b="1">
                <a:solidFill>
                  <a:srgbClr val="15402E"/>
                </a:solidFill>
                <a:latin typeface="Inter"/>
              </a:rPr>
              <a:t>Pickups &amp; tracking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47252" y="2971800"/>
            <a:ext cx="2710586" cy="234086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500"/>
              </a:spcAft>
            </a:pPr>
            <a:r>
              <a:rPr sz="1150" b="0">
                <a:solidFill>
                  <a:srgbClr val="4A5A50"/>
                </a:solidFill>
                <a:latin typeface="Inter"/>
              </a:rPr>
              <a:t>Book a pickup, then follow a server-enforced lifecycle from requested through accepted, scheduled, weighed, processing and recovered. The resident sees the weight a collector recorded on site.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2960" y="5715000"/>
            <a:ext cx="1054577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700"/>
              </a:spcAft>
            </a:pPr>
            <a:r>
              <a:rPr sz="1150" b="0">
                <a:solidFill>
                  <a:srgbClr val="7C8C82"/>
                </a:solidFill>
                <a:latin typeface="Inter"/>
              </a:rPr>
              <a:t>One account type for households, one for collectors, one for administrators — with authorisation enforced on every record, not just on the route.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45720" y="-45720"/>
            <a:ext cx="12283135" cy="6949440"/>
          </a:xfrm>
          <a:prstGeom prst="rect">
            <a:avLst/>
          </a:prstGeom>
          <a:solidFill>
            <a:srgbClr val="F7FA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22960" y="6345936"/>
            <a:ext cx="10545775" cy="10972"/>
          </a:xfrm>
          <a:prstGeom prst="rect">
            <a:avLst/>
          </a:prstGeom>
          <a:solidFill>
            <a:srgbClr val="DCE6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6437376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700"/>
              </a:spcAft>
            </a:pPr>
            <a:r>
              <a:rPr sz="950" b="0">
                <a:solidFill>
                  <a:srgbClr val="7C8C82"/>
                </a:solidFill>
                <a:latin typeface="Inter"/>
              </a:rPr>
              <a:t>ReLoop  ·  Team TechGaint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271455" y="6437376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8000"/>
              </a:lnSpc>
              <a:spcAft>
                <a:spcPts val="700"/>
              </a:spcAft>
            </a:pPr>
            <a:r>
              <a:rPr sz="950" b="0">
                <a:solidFill>
                  <a:srgbClr val="7C8C82"/>
                </a:solidFill>
                <a:latin typeface="Inter"/>
              </a:rPr>
              <a:t>5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12191695" cy="77724"/>
          </a:xfrm>
          <a:prstGeom prst="rect">
            <a:avLst/>
          </a:prstGeom>
          <a:solidFill>
            <a:srgbClr val="154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45720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700"/>
              </a:spcAft>
            </a:pPr>
            <a:r>
              <a:rPr sz="1150" b="1">
                <a:solidFill>
                  <a:srgbClr val="5B7A63"/>
                </a:solidFill>
                <a:latin typeface="Inter"/>
              </a:rPr>
              <a:t>THE CORE IDEA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749808"/>
            <a:ext cx="10545775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3000" b="1">
                <a:solidFill>
                  <a:srgbClr val="15402E"/>
                </a:solidFill>
                <a:latin typeface="Inter"/>
              </a:rPr>
              <a:t>Only measured weight counts.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1591056"/>
            <a:ext cx="99669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700"/>
              </a:spcAft>
            </a:pPr>
            <a:r>
              <a:rPr sz="1300" b="0">
                <a:solidFill>
                  <a:srgbClr val="4A5A50"/>
                </a:solidFill>
                <a:latin typeface="Inter"/>
              </a:rPr>
              <a:t>Most platforms report what was collected. ReLoop separates what was measured from what was estimated — and never mixes the two.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" y="2468880"/>
            <a:ext cx="5112867" cy="260604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DCE6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822960" y="2615184"/>
            <a:ext cx="68580" cy="2313432"/>
          </a:xfrm>
          <a:prstGeom prst="roundRect">
            <a:avLst>
              <a:gd name="adj" fmla="val 50000"/>
            </a:avLst>
          </a:prstGeom>
          <a:solidFill>
            <a:srgbClr val="154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33856" y="2688336"/>
            <a:ext cx="449107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700"/>
              </a:spcAft>
            </a:pPr>
            <a:r>
              <a:rPr sz="1700" b="1">
                <a:solidFill>
                  <a:srgbClr val="15402E"/>
                </a:solidFill>
                <a:latin typeface="Inter"/>
              </a:rPr>
              <a:t>Measured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33856" y="3108960"/>
            <a:ext cx="4491075" cy="17465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500"/>
              </a:spcAft>
            </a:pPr>
            <a:r>
              <a:rPr sz="1200" b="0">
                <a:solidFill>
                  <a:srgbClr val="4A5A50"/>
                </a:solidFill>
                <a:latin typeface="Inter"/>
              </a:rPr>
              <a:t>Kilograms a collector weighed on site, collection counts, per-material history and every completed collection. These are facts about the account and are never smoothed, extrapolated or estimated.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55867" y="2468880"/>
            <a:ext cx="5112867" cy="260604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DCE6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255867" y="2615184"/>
            <a:ext cx="68580" cy="2313432"/>
          </a:xfrm>
          <a:prstGeom prst="roundRect">
            <a:avLst>
              <a:gd name="adj" fmla="val 50000"/>
            </a:avLst>
          </a:prstGeom>
          <a:solidFill>
            <a:srgbClr val="B779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66763" y="2688336"/>
            <a:ext cx="449107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700"/>
              </a:spcAft>
            </a:pPr>
            <a:r>
              <a:rPr sz="1700" b="1">
                <a:solidFill>
                  <a:srgbClr val="15402E"/>
                </a:solidFill>
                <a:latin typeface="Inter"/>
              </a:rPr>
              <a:t>Estimated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66763" y="3108960"/>
            <a:ext cx="4491075" cy="17465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500"/>
              </a:spcAft>
            </a:pPr>
            <a:r>
              <a:rPr sz="1200" b="0">
                <a:solidFill>
                  <a:srgbClr val="4A5A50"/>
                </a:solidFill>
                <a:latin typeface="Inter"/>
              </a:rPr>
              <a:t>Avoided CO₂e, derived from conservative published per-material coefficients. Always labelled as an estimate wherever it appears, and documented in full so a judge can check every coefficient.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" y="5349240"/>
            <a:ext cx="1054577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700"/>
              </a:spcAft>
            </a:pPr>
            <a:r>
              <a:rPr sz="1200" b="0">
                <a:solidFill>
                  <a:srgbClr val="7C8C82"/>
                </a:solidFill>
                <a:latin typeface="Inter"/>
              </a:rPr>
              <a:t>If nothing has been collected yet, the impact page says so instead of showing a number. There are no seeded statistics anywhere in the product.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45720" y="-45720"/>
            <a:ext cx="12283135" cy="6949440"/>
          </a:xfrm>
          <a:prstGeom prst="rect">
            <a:avLst/>
          </a:prstGeom>
          <a:solidFill>
            <a:srgbClr val="F7FA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22960" y="6345936"/>
            <a:ext cx="10545775" cy="10972"/>
          </a:xfrm>
          <a:prstGeom prst="rect">
            <a:avLst/>
          </a:prstGeom>
          <a:solidFill>
            <a:srgbClr val="DCE6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6437376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700"/>
              </a:spcAft>
            </a:pPr>
            <a:r>
              <a:rPr sz="950" b="0">
                <a:solidFill>
                  <a:srgbClr val="7C8C82"/>
                </a:solidFill>
                <a:latin typeface="Inter"/>
              </a:rPr>
              <a:t>ReLoop  ·  Team TechGaint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271455" y="6437376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8000"/>
              </a:lnSpc>
              <a:spcAft>
                <a:spcPts val="700"/>
              </a:spcAft>
            </a:pPr>
            <a:r>
              <a:rPr sz="950" b="0">
                <a:solidFill>
                  <a:srgbClr val="7C8C82"/>
                </a:solidFill>
                <a:latin typeface="Inter"/>
              </a:rPr>
              <a:t>6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12191695" cy="77724"/>
          </a:xfrm>
          <a:prstGeom prst="rect">
            <a:avLst/>
          </a:prstGeom>
          <a:solidFill>
            <a:srgbClr val="154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45720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700"/>
              </a:spcAft>
            </a:pPr>
            <a:r>
              <a:rPr sz="1150" b="1">
                <a:solidFill>
                  <a:srgbClr val="5B7A63"/>
                </a:solidFill>
                <a:latin typeface="Inter"/>
              </a:rPr>
              <a:t>TRUST AND SAFETY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749808"/>
            <a:ext cx="10545775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3000" b="1">
                <a:solidFill>
                  <a:srgbClr val="15402E"/>
                </a:solidFill>
                <a:latin typeface="Inter"/>
              </a:rPr>
              <a:t>Built for real households and real collectors.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1591056"/>
            <a:ext cx="99669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700"/>
              </a:spcAft>
            </a:pPr>
            <a:r>
              <a:rPr sz="1300" b="0">
                <a:solidFill>
                  <a:srgbClr val="4A5A50"/>
                </a:solidFill>
                <a:latin typeface="Inter"/>
              </a:rPr>
              <a:t>The parts of a waste platform that decide whether people trust it.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" y="2377440"/>
            <a:ext cx="5112867" cy="164592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DCE6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822960" y="2523744"/>
            <a:ext cx="68580" cy="1353312"/>
          </a:xfrm>
          <a:prstGeom prst="roundRect">
            <a:avLst>
              <a:gd name="adj" fmla="val 50000"/>
            </a:avLst>
          </a:prstGeom>
          <a:solidFill>
            <a:srgbClr val="84A9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33856" y="2596896"/>
            <a:ext cx="449107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700"/>
              </a:spcAft>
            </a:pPr>
            <a:r>
              <a:rPr sz="1450" b="1">
                <a:solidFill>
                  <a:srgbClr val="15402E"/>
                </a:solidFill>
                <a:latin typeface="Inter"/>
              </a:rPr>
              <a:t>Vetted collectors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33856" y="3017520"/>
            <a:ext cx="4491075" cy="7863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500"/>
              </a:spcAft>
            </a:pPr>
            <a:r>
              <a:rPr sz="1100" b="0">
                <a:solidFill>
                  <a:srgbClr val="4A5A50"/>
                </a:solidFill>
                <a:latin typeface="Inter"/>
              </a:rPr>
              <a:t>A collector can act only after an administrator verifies their application. Verification is what grants the collector role at all.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55867" y="2377440"/>
            <a:ext cx="5112867" cy="164592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DCE6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255867" y="2523744"/>
            <a:ext cx="68580" cy="1353312"/>
          </a:xfrm>
          <a:prstGeom prst="roundRect">
            <a:avLst>
              <a:gd name="adj" fmla="val 50000"/>
            </a:avLst>
          </a:prstGeom>
          <a:solidFill>
            <a:srgbClr val="84A9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66763" y="2596896"/>
            <a:ext cx="449107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700"/>
              </a:spcAft>
            </a:pPr>
            <a:r>
              <a:rPr sz="1450" b="1">
                <a:solidFill>
                  <a:srgbClr val="15402E"/>
                </a:solidFill>
                <a:latin typeface="Inter"/>
              </a:rPr>
              <a:t>Private by default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66763" y="3017520"/>
            <a:ext cx="4491075" cy="7863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500"/>
              </a:spcAft>
            </a:pPr>
            <a:r>
              <a:rPr sz="1100" b="0">
                <a:solidFill>
                  <a:srgbClr val="4A5A50"/>
                </a:solidFill>
                <a:latin typeface="Inter"/>
              </a:rPr>
              <a:t>The open pool shows material, city and a kilometre-rounded distance. The address, exact coordinates, notes and photo unlock only after the request is accepted.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22960" y="4297680"/>
            <a:ext cx="5112867" cy="164592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DCE6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822960" y="4443984"/>
            <a:ext cx="68580" cy="1353312"/>
          </a:xfrm>
          <a:prstGeom prst="roundRect">
            <a:avLst>
              <a:gd name="adj" fmla="val 50000"/>
            </a:avLst>
          </a:prstGeom>
          <a:solidFill>
            <a:srgbClr val="84A9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133856" y="4517136"/>
            <a:ext cx="449107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700"/>
              </a:spcAft>
            </a:pPr>
            <a:r>
              <a:rPr sz="1450" b="1">
                <a:solidFill>
                  <a:srgbClr val="15402E"/>
                </a:solidFill>
                <a:latin typeface="Inter"/>
              </a:rPr>
              <a:t>Safe uploads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33856" y="4937760"/>
            <a:ext cx="4491075" cy="78638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500"/>
              </a:spcAft>
            </a:pPr>
            <a:r>
              <a:rPr sz="1100" b="0">
                <a:solidFill>
                  <a:srgbClr val="4A5A50"/>
                </a:solidFill>
                <a:latin typeface="Inter"/>
              </a:rPr>
              <a:t>Images are validated by content — JPEG, PNG or WEBP, size-capped — and unsupported or corrupted files are refused before any provider call.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55867" y="4297680"/>
            <a:ext cx="5112867" cy="164592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DCE6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6255867" y="4443984"/>
            <a:ext cx="68580" cy="1353312"/>
          </a:xfrm>
          <a:prstGeom prst="roundRect">
            <a:avLst>
              <a:gd name="adj" fmla="val 50000"/>
            </a:avLst>
          </a:prstGeom>
          <a:solidFill>
            <a:srgbClr val="84A9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566763" y="4517136"/>
            <a:ext cx="449107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700"/>
              </a:spcAft>
            </a:pPr>
            <a:r>
              <a:rPr sz="1450" b="1">
                <a:solidFill>
                  <a:srgbClr val="15402E"/>
                </a:solidFill>
                <a:latin typeface="Inter"/>
              </a:rPr>
              <a:t>Race-safe claims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66763" y="4937760"/>
            <a:ext cx="4491075" cy="78638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500"/>
              </a:spcAft>
            </a:pPr>
            <a:r>
              <a:rPr sz="1100" b="0">
                <a:solidFill>
                  <a:srgbClr val="4A5A50"/>
                </a:solidFill>
                <a:latin typeface="Inter"/>
              </a:rPr>
              <a:t>Two collectors cannot both win the same job: the second gets a clean 409 and is told to refresh, never a phantom assignment.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45720" y="-45720"/>
            <a:ext cx="12283135" cy="6949440"/>
          </a:xfrm>
          <a:prstGeom prst="rect">
            <a:avLst/>
          </a:prstGeom>
          <a:solidFill>
            <a:srgbClr val="F7FA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22960" y="6345936"/>
            <a:ext cx="10545775" cy="10972"/>
          </a:xfrm>
          <a:prstGeom prst="rect">
            <a:avLst/>
          </a:prstGeom>
          <a:solidFill>
            <a:srgbClr val="DCE6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6437376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700"/>
              </a:spcAft>
            </a:pPr>
            <a:r>
              <a:rPr sz="950" b="0">
                <a:solidFill>
                  <a:srgbClr val="7C8C82"/>
                </a:solidFill>
                <a:latin typeface="Inter"/>
              </a:rPr>
              <a:t>ReLoop  ·  Team TechGaint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271455" y="6437376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8000"/>
              </a:lnSpc>
              <a:spcAft>
                <a:spcPts val="700"/>
              </a:spcAft>
            </a:pPr>
            <a:r>
              <a:rPr sz="950" b="0">
                <a:solidFill>
                  <a:srgbClr val="7C8C82"/>
                </a:solidFill>
                <a:latin typeface="Inter"/>
              </a:rPr>
              <a:t>7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12191695" cy="77724"/>
          </a:xfrm>
          <a:prstGeom prst="rect">
            <a:avLst/>
          </a:prstGeom>
          <a:solidFill>
            <a:srgbClr val="154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45720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700"/>
              </a:spcAft>
            </a:pPr>
            <a:r>
              <a:rPr sz="1150" b="1">
                <a:solidFill>
                  <a:srgbClr val="5B7A63"/>
                </a:solidFill>
                <a:latin typeface="Inter"/>
              </a:rPr>
              <a:t>ARCHITECTURE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749808"/>
            <a:ext cx="10545775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3000" b="1">
                <a:solidFill>
                  <a:srgbClr val="15402E"/>
                </a:solidFill>
                <a:latin typeface="Inter"/>
              </a:rPr>
              <a:t>A production-shaped stack, not a prototype.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1591056"/>
            <a:ext cx="99669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700"/>
              </a:spcAft>
            </a:pPr>
            <a:r>
              <a:rPr sz="1300" b="0">
                <a:solidFill>
                  <a:srgbClr val="4A5A50"/>
                </a:solidFill>
                <a:latin typeface="Inter"/>
              </a:rPr>
              <a:t>Three tiers, one outward dependency, and a test suite that runs against the real thing.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" y="2331720"/>
            <a:ext cx="2926080" cy="109728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DCE6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822960" y="2478024"/>
            <a:ext cx="68580" cy="804671"/>
          </a:xfrm>
          <a:prstGeom prst="roundRect">
            <a:avLst>
              <a:gd name="adj" fmla="val 50000"/>
            </a:avLst>
          </a:prstGeom>
          <a:solidFill>
            <a:srgbClr val="84A9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33856" y="2551176"/>
            <a:ext cx="230428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700"/>
              </a:spcAft>
            </a:pPr>
            <a:r>
              <a:rPr sz="1400" b="1">
                <a:solidFill>
                  <a:srgbClr val="15402E"/>
                </a:solidFill>
                <a:latin typeface="Inter"/>
              </a:rPr>
              <a:t>Web client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33856" y="2971800"/>
            <a:ext cx="2304288" cy="23774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500"/>
              </a:spcAft>
            </a:pPr>
            <a:r>
              <a:rPr sz="1100" b="0">
                <a:solidFill>
                  <a:srgbClr val="4A5A50"/>
                </a:solidFill>
                <a:latin typeface="Inter"/>
              </a:rPr>
              <a:t>React 19 · TypeScript · Vite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3968496" y="2743200"/>
            <a:ext cx="256032" cy="256032"/>
          </a:xfrm>
          <a:prstGeom prst="rightArrow">
            <a:avLst/>
          </a:prstGeom>
          <a:solidFill>
            <a:srgbClr val="84A9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4434840" y="2331720"/>
            <a:ext cx="2926080" cy="109728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DCE6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4434840" y="2478024"/>
            <a:ext cx="68580" cy="804671"/>
          </a:xfrm>
          <a:prstGeom prst="roundRect">
            <a:avLst>
              <a:gd name="adj" fmla="val 50000"/>
            </a:avLst>
          </a:prstGeom>
          <a:solidFill>
            <a:srgbClr val="154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745736" y="2551176"/>
            <a:ext cx="230428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700"/>
              </a:spcAft>
            </a:pPr>
            <a:r>
              <a:rPr sz="1400" b="1">
                <a:solidFill>
                  <a:srgbClr val="15402E"/>
                </a:solidFill>
                <a:latin typeface="Inter"/>
              </a:rPr>
              <a:t>API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745736" y="2971800"/>
            <a:ext cx="2304288" cy="23774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500"/>
              </a:spcAft>
            </a:pPr>
            <a:r>
              <a:rPr sz="1100" b="0">
                <a:solidFill>
                  <a:srgbClr val="4A5A50"/>
                </a:solidFill>
                <a:latin typeface="Inter"/>
              </a:rPr>
              <a:t>Spring Boot 3.5 · Java 21 · JWT</a:t>
            </a:r>
          </a:p>
        </p:txBody>
      </p:sp>
      <p:sp>
        <p:nvSpPr>
          <p:cNvPr id="19" name="Right Arrow 18"/>
          <p:cNvSpPr/>
          <p:nvPr/>
        </p:nvSpPr>
        <p:spPr>
          <a:xfrm>
            <a:off x="7580376" y="2743200"/>
            <a:ext cx="256032" cy="256032"/>
          </a:xfrm>
          <a:prstGeom prst="rightArrow">
            <a:avLst/>
          </a:prstGeom>
          <a:solidFill>
            <a:srgbClr val="84A9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8046720" y="2331720"/>
            <a:ext cx="2926080" cy="109728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DCE6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8046720" y="2478024"/>
            <a:ext cx="68580" cy="804671"/>
          </a:xfrm>
          <a:prstGeom prst="roundRect">
            <a:avLst>
              <a:gd name="adj" fmla="val 50000"/>
            </a:avLst>
          </a:prstGeom>
          <a:solidFill>
            <a:srgbClr val="84A9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357616" y="2551176"/>
            <a:ext cx="230428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700"/>
              </a:spcAft>
            </a:pPr>
            <a:r>
              <a:rPr sz="1400" b="1">
                <a:solidFill>
                  <a:srgbClr val="15402E"/>
                </a:solidFill>
                <a:latin typeface="Inter"/>
              </a:rPr>
              <a:t>Database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57616" y="2971800"/>
            <a:ext cx="2304288" cy="23774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500"/>
              </a:spcAft>
            </a:pPr>
            <a:r>
              <a:rPr sz="1100" b="0">
                <a:solidFill>
                  <a:srgbClr val="4A5A50"/>
                </a:solidFill>
                <a:latin typeface="Inter"/>
              </a:rPr>
              <a:t>PostgreSQL · Flyway migrations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22960" y="3657600"/>
            <a:ext cx="10545775" cy="132588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DCE6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822960" y="3803904"/>
            <a:ext cx="68580" cy="1033271"/>
          </a:xfrm>
          <a:prstGeom prst="roundRect">
            <a:avLst>
              <a:gd name="adj" fmla="val 50000"/>
            </a:avLst>
          </a:prstGeom>
          <a:solidFill>
            <a:srgbClr val="B779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133856" y="3877056"/>
            <a:ext cx="9923983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700"/>
              </a:spcAft>
            </a:pPr>
            <a:r>
              <a:rPr sz="1400" b="1">
                <a:solidFill>
                  <a:srgbClr val="15402E"/>
                </a:solidFill>
                <a:latin typeface="Inter"/>
              </a:rPr>
              <a:t>Google Gemini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33856" y="4297680"/>
            <a:ext cx="9923983" cy="46634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500"/>
              </a:spcAft>
            </a:pPr>
            <a:r>
              <a:rPr sz="1100" b="0">
                <a:solidFill>
                  <a:srgbClr val="4A5A50"/>
                </a:solidFill>
                <a:latin typeface="Inter"/>
              </a:rPr>
              <a:t>Called server-side only; the API key never reaches the browser, and a provider failure degrades to manual classification instead of an invented answer.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2960" y="5212080"/>
            <a:ext cx="10545775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400"/>
              </a:spcAft>
            </a:pPr>
            <a:r>
              <a:rPr sz="1150" b="0">
                <a:solidFill>
                  <a:srgbClr val="4A5A50"/>
                </a:solidFill>
                <a:latin typeface="Inter"/>
              </a:rPr>
              <a:t>90 automated tests run against a real PostgreSQL schema and the real HTTP stack — no mocked success paths.</a:t>
            </a:r>
          </a:p>
          <a:p>
            <a:pPr algn="l">
              <a:lnSpc>
                <a:spcPct val="118000"/>
              </a:lnSpc>
              <a:spcAft>
                <a:spcPts val="400"/>
              </a:spcAft>
            </a:pPr>
            <a:r>
              <a:rPr sz="1150" b="0">
                <a:solidFill>
                  <a:srgbClr val="4A5A50"/>
                </a:solidFill>
                <a:latin typeface="Inter"/>
              </a:rPr>
              <a:t>One-command deployment with Docker Compose, plus CI that runs the full suite and the client build.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45720" y="-45720"/>
            <a:ext cx="12283135" cy="6949440"/>
          </a:xfrm>
          <a:prstGeom prst="rect">
            <a:avLst/>
          </a:prstGeom>
          <a:solidFill>
            <a:srgbClr val="F7FA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22960" y="6345936"/>
            <a:ext cx="10545775" cy="10972"/>
          </a:xfrm>
          <a:prstGeom prst="rect">
            <a:avLst/>
          </a:prstGeom>
          <a:solidFill>
            <a:srgbClr val="DCE6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6437376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700"/>
              </a:spcAft>
            </a:pPr>
            <a:r>
              <a:rPr sz="950" b="0">
                <a:solidFill>
                  <a:srgbClr val="7C8C82"/>
                </a:solidFill>
                <a:latin typeface="Inter"/>
              </a:rPr>
              <a:t>ReLoop  ·  Team TechGaint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271455" y="6437376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8000"/>
              </a:lnSpc>
              <a:spcAft>
                <a:spcPts val="700"/>
              </a:spcAft>
            </a:pPr>
            <a:r>
              <a:rPr sz="950" b="0">
                <a:solidFill>
                  <a:srgbClr val="7C8C82"/>
                </a:solidFill>
                <a:latin typeface="Inter"/>
              </a:rPr>
              <a:t>8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12191695" cy="77724"/>
          </a:xfrm>
          <a:prstGeom prst="rect">
            <a:avLst/>
          </a:prstGeom>
          <a:solidFill>
            <a:srgbClr val="154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45720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700"/>
              </a:spcAft>
            </a:pPr>
            <a:r>
              <a:rPr sz="1150" b="1">
                <a:solidFill>
                  <a:srgbClr val="5B7A63"/>
                </a:solidFill>
                <a:latin typeface="Inter"/>
              </a:rPr>
              <a:t>IMPACT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749808"/>
            <a:ext cx="10545775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3000" b="1">
                <a:solidFill>
                  <a:srgbClr val="15402E"/>
                </a:solidFill>
                <a:latin typeface="Inter"/>
              </a:rPr>
              <a:t>Numbers a judge can check.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1591056"/>
            <a:ext cx="99669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700"/>
              </a:spcAft>
            </a:pPr>
            <a:r>
              <a:rPr sz="1300" b="0">
                <a:solidFill>
                  <a:srgbClr val="4A5A50"/>
                </a:solidFill>
                <a:latin typeface="Inter"/>
              </a:rPr>
              <a:t>Every figure is either a measured weight or a labelled estimate with a published method.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" y="2468880"/>
            <a:ext cx="5577840" cy="32004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DCE6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822960" y="2615184"/>
            <a:ext cx="68580" cy="2907792"/>
          </a:xfrm>
          <a:prstGeom prst="roundRect">
            <a:avLst>
              <a:gd name="adj" fmla="val 50000"/>
            </a:avLst>
          </a:prstGeom>
          <a:solidFill>
            <a:srgbClr val="154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33856" y="2688336"/>
            <a:ext cx="495604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700"/>
              </a:spcAft>
            </a:pPr>
            <a:r>
              <a:rPr sz="1600" b="1">
                <a:solidFill>
                  <a:srgbClr val="15402E"/>
                </a:solidFill>
                <a:latin typeface="Inter"/>
              </a:rPr>
              <a:t>What we report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33856" y="3108960"/>
            <a:ext cx="4956048" cy="234086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500"/>
              </a:spcAft>
            </a:pPr>
            <a:r>
              <a:rPr sz="1200" b="0">
                <a:solidFill>
                  <a:srgbClr val="4A5A50"/>
                </a:solidFill>
                <a:latin typeface="Inter"/>
              </a:rPr>
              <a:t>Measured kilograms and completed collections, plus per-material breakdowns and a dated recycling history. Avoided CO₂e is shown separately and always labelled an estimate.
The methodology document lists every coefficient, its rationale and its limitations — transport emissions are not subtracted, and hazardous waste is credited at zero because no certified route is verified yet.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720840" y="2468880"/>
            <a:ext cx="4645152" cy="32004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DCE6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031736" y="2724912"/>
            <a:ext cx="40233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700"/>
              </a:spcAft>
            </a:pPr>
            <a:r>
              <a:rPr sz="1400" b="1">
                <a:solidFill>
                  <a:srgbClr val="15402E"/>
                </a:solidFill>
                <a:latin typeface="Inter"/>
              </a:rPr>
              <a:t>kg CO₂e avoided per kg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031736" y="3035808"/>
            <a:ext cx="402336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700"/>
              </a:spcAft>
            </a:pPr>
            <a:r>
              <a:rPr sz="1050" b="0">
                <a:solidFill>
                  <a:srgbClr val="7C8C82"/>
                </a:solidFill>
                <a:latin typeface="Inter"/>
              </a:rPr>
              <a:t>conservative, literature-based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031736" y="3383280"/>
            <a:ext cx="2743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700"/>
              </a:spcAft>
            </a:pPr>
            <a:r>
              <a:rPr sz="1200" b="0">
                <a:solidFill>
                  <a:srgbClr val="4A5A50"/>
                </a:solidFill>
                <a:latin typeface="Inter"/>
              </a:rPr>
              <a:t>Plastic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287000" y="3383280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8000"/>
              </a:lnSpc>
              <a:spcAft>
                <a:spcPts val="700"/>
              </a:spcAft>
            </a:pPr>
            <a:r>
              <a:rPr sz="1200" b="1">
                <a:solidFill>
                  <a:srgbClr val="15402E"/>
                </a:solidFill>
                <a:latin typeface="Inter"/>
              </a:rPr>
              <a:t>1.5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031736" y="3657600"/>
            <a:ext cx="4023360" cy="7315"/>
          </a:xfrm>
          <a:prstGeom prst="rect">
            <a:avLst/>
          </a:prstGeom>
          <a:solidFill>
            <a:srgbClr val="DCE6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031736" y="3813048"/>
            <a:ext cx="2743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700"/>
              </a:spcAft>
            </a:pPr>
            <a:r>
              <a:rPr sz="1200" b="0">
                <a:solidFill>
                  <a:srgbClr val="4A5A50"/>
                </a:solidFill>
                <a:latin typeface="Inter"/>
              </a:rPr>
              <a:t>Paper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287000" y="3813048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8000"/>
              </a:lnSpc>
              <a:spcAft>
                <a:spcPts val="700"/>
              </a:spcAft>
            </a:pPr>
            <a:r>
              <a:rPr sz="1200" b="1">
                <a:solidFill>
                  <a:srgbClr val="15402E"/>
                </a:solidFill>
                <a:latin typeface="Inter"/>
              </a:rPr>
              <a:t>1.0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031736" y="4087368"/>
            <a:ext cx="4023360" cy="7315"/>
          </a:xfrm>
          <a:prstGeom prst="rect">
            <a:avLst/>
          </a:prstGeom>
          <a:solidFill>
            <a:srgbClr val="DCE6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031736" y="4242816"/>
            <a:ext cx="2743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700"/>
              </a:spcAft>
            </a:pPr>
            <a:r>
              <a:rPr sz="1200" b="0">
                <a:solidFill>
                  <a:srgbClr val="4A5A50"/>
                </a:solidFill>
                <a:latin typeface="Inter"/>
              </a:rPr>
              <a:t>Metal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287000" y="4242816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8000"/>
              </a:lnSpc>
              <a:spcAft>
                <a:spcPts val="700"/>
              </a:spcAft>
            </a:pPr>
            <a:r>
              <a:rPr sz="1200" b="1">
                <a:solidFill>
                  <a:srgbClr val="15402E"/>
                </a:solidFill>
                <a:latin typeface="Inter"/>
              </a:rPr>
              <a:t>4.0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031736" y="4517136"/>
            <a:ext cx="4023360" cy="7315"/>
          </a:xfrm>
          <a:prstGeom prst="rect">
            <a:avLst/>
          </a:prstGeom>
          <a:solidFill>
            <a:srgbClr val="DCE6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031736" y="4672583"/>
            <a:ext cx="2743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700"/>
              </a:spcAft>
            </a:pPr>
            <a:r>
              <a:rPr sz="1200" b="0">
                <a:solidFill>
                  <a:srgbClr val="4A5A50"/>
                </a:solidFill>
                <a:latin typeface="Inter"/>
              </a:rPr>
              <a:t>Glass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287000" y="4672583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8000"/>
              </a:lnSpc>
              <a:spcAft>
                <a:spcPts val="700"/>
              </a:spcAft>
            </a:pPr>
            <a:r>
              <a:rPr sz="1200" b="1">
                <a:solidFill>
                  <a:srgbClr val="15402E"/>
                </a:solidFill>
                <a:latin typeface="Inter"/>
              </a:rPr>
              <a:t>0.3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031736" y="4946903"/>
            <a:ext cx="4023360" cy="7315"/>
          </a:xfrm>
          <a:prstGeom prst="rect">
            <a:avLst/>
          </a:prstGeom>
          <a:solidFill>
            <a:srgbClr val="DCE6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031736" y="5102351"/>
            <a:ext cx="2743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700"/>
              </a:spcAft>
            </a:pPr>
            <a:r>
              <a:rPr sz="1200" b="0">
                <a:solidFill>
                  <a:srgbClr val="4A5A50"/>
                </a:solidFill>
                <a:latin typeface="Inter"/>
              </a:rPr>
              <a:t>Hazardous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287000" y="5102351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8000"/>
              </a:lnSpc>
              <a:spcAft>
                <a:spcPts val="700"/>
              </a:spcAft>
            </a:pPr>
            <a:r>
              <a:rPr sz="1200" b="1">
                <a:solidFill>
                  <a:srgbClr val="15402E"/>
                </a:solidFill>
                <a:latin typeface="Inter"/>
              </a:rPr>
              <a:t>0.0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031736" y="5376671"/>
            <a:ext cx="4023360" cy="7315"/>
          </a:xfrm>
          <a:prstGeom prst="rect">
            <a:avLst/>
          </a:prstGeom>
          <a:solidFill>
            <a:srgbClr val="DCE6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45720" y="-45720"/>
            <a:ext cx="12283135" cy="6949440"/>
          </a:xfrm>
          <a:prstGeom prst="rect">
            <a:avLst/>
          </a:prstGeom>
          <a:solidFill>
            <a:srgbClr val="F7FA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22960" y="6345936"/>
            <a:ext cx="10545775" cy="10972"/>
          </a:xfrm>
          <a:prstGeom prst="rect">
            <a:avLst/>
          </a:prstGeom>
          <a:solidFill>
            <a:srgbClr val="DCE6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6437376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700"/>
              </a:spcAft>
            </a:pPr>
            <a:r>
              <a:rPr sz="950" b="0">
                <a:solidFill>
                  <a:srgbClr val="7C8C82"/>
                </a:solidFill>
                <a:latin typeface="Inter"/>
              </a:rPr>
              <a:t>ReLoop  ·  Team TechGaint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271455" y="6437376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8000"/>
              </a:lnSpc>
              <a:spcAft>
                <a:spcPts val="700"/>
              </a:spcAft>
            </a:pPr>
            <a:r>
              <a:rPr sz="950" b="0">
                <a:solidFill>
                  <a:srgbClr val="7C8C82"/>
                </a:solidFill>
                <a:latin typeface="Inter"/>
              </a:rPr>
              <a:t>9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12191695" cy="77724"/>
          </a:xfrm>
          <a:prstGeom prst="rect">
            <a:avLst/>
          </a:prstGeom>
          <a:solidFill>
            <a:srgbClr val="154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45720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700"/>
              </a:spcAft>
            </a:pPr>
            <a:r>
              <a:rPr sz="1150" b="1">
                <a:solidFill>
                  <a:srgbClr val="5B7A63"/>
                </a:solidFill>
                <a:latin typeface="Inter"/>
              </a:rPr>
              <a:t>SCALE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749808"/>
            <a:ext cx="10545775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3000" b="1">
                <a:solidFill>
                  <a:srgbClr val="15402E"/>
                </a:solidFill>
                <a:latin typeface="Inter"/>
              </a:rPr>
              <a:t>From one city to a verified network.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1591056"/>
            <a:ext cx="99669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700"/>
              </a:spcAft>
            </a:pPr>
            <a:r>
              <a:rPr sz="1300" b="0">
                <a:solidFill>
                  <a:srgbClr val="4A5A50"/>
                </a:solidFill>
                <a:latin typeface="Inter"/>
              </a:rPr>
              <a:t>The build already separates the things that must change at scale.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" y="2377440"/>
            <a:ext cx="3332378" cy="329184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DCE6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822960" y="2523744"/>
            <a:ext cx="68580" cy="2999232"/>
          </a:xfrm>
          <a:prstGeom prst="roundRect">
            <a:avLst>
              <a:gd name="adj" fmla="val 50000"/>
            </a:avLst>
          </a:prstGeom>
          <a:solidFill>
            <a:srgbClr val="154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33856" y="2596896"/>
            <a:ext cx="271058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700"/>
              </a:spcAft>
            </a:pPr>
            <a:r>
              <a:rPr sz="1500" b="1">
                <a:solidFill>
                  <a:srgbClr val="15402E"/>
                </a:solidFill>
                <a:latin typeface="Inter"/>
              </a:rPr>
              <a:t>One city pilot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33856" y="3017520"/>
            <a:ext cx="2710586" cy="2432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500"/>
              </a:spcAft>
            </a:pPr>
            <a:r>
              <a:rPr sz="1150" b="0">
                <a:solidFill>
                  <a:srgbClr val="4A5A50"/>
                </a:solidFill>
                <a:latin typeface="Inter"/>
              </a:rPr>
              <a:t>Single instance, local image storage, the full pickup lifecycle and admin console. Deployable today with a single command.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133856" y="5102352"/>
            <a:ext cx="868680" cy="384048"/>
          </a:xfrm>
          <a:prstGeom prst="roundRect">
            <a:avLst>
              <a:gd name="adj" fmla="val 50000"/>
            </a:avLst>
          </a:prstGeom>
          <a:solidFill>
            <a:srgbClr val="E5EE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133856" y="5198364"/>
            <a:ext cx="86868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8000"/>
              </a:lnSpc>
              <a:spcAft>
                <a:spcPts val="700"/>
              </a:spcAft>
            </a:pPr>
            <a:r>
              <a:rPr sz="1050" b="1">
                <a:solidFill>
                  <a:srgbClr val="15402E"/>
                </a:solidFill>
                <a:latin typeface="Inter"/>
              </a:rPr>
              <a:t>Now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429658" y="2377440"/>
            <a:ext cx="3332378" cy="329184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DCE6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4429658" y="2523744"/>
            <a:ext cx="68580" cy="2999232"/>
          </a:xfrm>
          <a:prstGeom prst="roundRect">
            <a:avLst>
              <a:gd name="adj" fmla="val 50000"/>
            </a:avLst>
          </a:prstGeom>
          <a:solidFill>
            <a:srgbClr val="84A9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740554" y="2596896"/>
            <a:ext cx="271058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700"/>
              </a:spcAft>
            </a:pPr>
            <a:r>
              <a:rPr sz="1500" b="1">
                <a:solidFill>
                  <a:srgbClr val="15402E"/>
                </a:solidFill>
                <a:latin typeface="Inter"/>
              </a:rPr>
              <a:t>Many collectors, one pool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740554" y="3017520"/>
            <a:ext cx="2710586" cy="2432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500"/>
              </a:spcAft>
            </a:pPr>
            <a:r>
              <a:rPr sz="1150" b="0">
                <a:solidFill>
                  <a:srgbClr val="4A5A50"/>
                </a:solidFill>
                <a:latin typeface="Inter"/>
              </a:rPr>
              <a:t>Geospatial indexing for the pool, a shared rate-limit store for multiple replicas, object storage behind the existing interface, and partner onboarding at scale.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740554" y="5102352"/>
            <a:ext cx="868680" cy="384048"/>
          </a:xfrm>
          <a:prstGeom prst="roundRect">
            <a:avLst>
              <a:gd name="adj" fmla="val 50000"/>
            </a:avLst>
          </a:prstGeom>
          <a:solidFill>
            <a:srgbClr val="E5EE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740554" y="5198364"/>
            <a:ext cx="86868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8000"/>
              </a:lnSpc>
              <a:spcAft>
                <a:spcPts val="700"/>
              </a:spcAft>
            </a:pPr>
            <a:r>
              <a:rPr sz="1050" b="1">
                <a:solidFill>
                  <a:srgbClr val="15402E"/>
                </a:solidFill>
                <a:latin typeface="Inter"/>
              </a:rPr>
              <a:t>Next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036356" y="2377440"/>
            <a:ext cx="3332378" cy="329184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DCE6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8036356" y="2523744"/>
            <a:ext cx="68580" cy="2999232"/>
          </a:xfrm>
          <a:prstGeom prst="roundRect">
            <a:avLst>
              <a:gd name="adj" fmla="val 50000"/>
            </a:avLst>
          </a:prstGeom>
          <a:solidFill>
            <a:srgbClr val="5B7A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347252" y="2596896"/>
            <a:ext cx="271058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700"/>
              </a:spcAft>
            </a:pPr>
            <a:r>
              <a:rPr sz="1500" b="1">
                <a:solidFill>
                  <a:srgbClr val="15402E"/>
                </a:solidFill>
                <a:latin typeface="Inter"/>
              </a:rPr>
              <a:t>A verified recovery network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347252" y="3017520"/>
            <a:ext cx="2710586" cy="2432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500"/>
              </a:spcAft>
            </a:pPr>
            <a:r>
              <a:rPr sz="1150" b="0">
                <a:solidFill>
                  <a:srgbClr val="4A5A50"/>
                </a:solidFill>
                <a:latin typeface="Inter"/>
              </a:rPr>
              <a:t>Deeper proof of downstream recovery, region-specific emission factors, and an open partner API for facilities to report outcomes back.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347252" y="5102352"/>
            <a:ext cx="868680" cy="384048"/>
          </a:xfrm>
          <a:prstGeom prst="roundRect">
            <a:avLst>
              <a:gd name="adj" fmla="val 50000"/>
            </a:avLst>
          </a:prstGeom>
          <a:solidFill>
            <a:srgbClr val="E5EE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347252" y="5198364"/>
            <a:ext cx="86868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8000"/>
              </a:lnSpc>
              <a:spcAft>
                <a:spcPts val="700"/>
              </a:spcAft>
            </a:pPr>
            <a:r>
              <a:rPr sz="1050" b="1">
                <a:solidFill>
                  <a:srgbClr val="15402E"/>
                </a:solidFill>
                <a:latin typeface="Inter"/>
              </a:rPr>
              <a:t>Then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45720" y="-45720"/>
            <a:ext cx="12283135" cy="6949440"/>
          </a:xfrm>
          <a:prstGeom prst="rect">
            <a:avLst/>
          </a:prstGeom>
          <a:solidFill>
            <a:srgbClr val="F7FA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22960" y="6345936"/>
            <a:ext cx="10545775" cy="10972"/>
          </a:xfrm>
          <a:prstGeom prst="rect">
            <a:avLst/>
          </a:prstGeom>
          <a:solidFill>
            <a:srgbClr val="DCE6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6437376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700"/>
              </a:spcAft>
            </a:pPr>
            <a:r>
              <a:rPr sz="950" b="0">
                <a:solidFill>
                  <a:srgbClr val="7C8C82"/>
                </a:solidFill>
                <a:latin typeface="Inter"/>
              </a:rPr>
              <a:t>ReLoop  ·  Team TechGaint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271455" y="6437376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8000"/>
              </a:lnSpc>
              <a:spcAft>
                <a:spcPts val="700"/>
              </a:spcAft>
            </a:pPr>
            <a:r>
              <a:rPr sz="950" b="0">
                <a:solidFill>
                  <a:srgbClr val="7C8C82"/>
                </a:solidFill>
                <a:latin typeface="Inter"/>
              </a:rPr>
              <a:t>10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12191695" cy="77724"/>
          </a:xfrm>
          <a:prstGeom prst="rect">
            <a:avLst/>
          </a:prstGeom>
          <a:solidFill>
            <a:srgbClr val="154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45720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700"/>
              </a:spcAft>
            </a:pPr>
            <a:r>
              <a:rPr sz="1150" b="1">
                <a:solidFill>
                  <a:srgbClr val="5B7A63"/>
                </a:solidFill>
                <a:latin typeface="Inter"/>
              </a:rPr>
              <a:t>WHAT EXISTS TODAY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749808"/>
            <a:ext cx="10545775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3000" b="1">
                <a:solidFill>
                  <a:srgbClr val="15402E"/>
                </a:solidFill>
                <a:latin typeface="Inter"/>
              </a:rPr>
              <a:t>Demo it in three minutes.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1591056"/>
            <a:ext cx="99669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700"/>
              </a:spcAft>
            </a:pPr>
            <a:r>
              <a:rPr sz="1300" b="0">
                <a:solidFill>
                  <a:srgbClr val="4A5A50"/>
                </a:solidFill>
                <a:latin typeface="Inter"/>
              </a:rPr>
              <a:t>Everything listed is implemented and covered by the test suite — nothing is staged.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" y="2322576"/>
            <a:ext cx="237744" cy="237744"/>
          </a:xfrm>
          <a:prstGeom prst="roundRect">
            <a:avLst>
              <a:gd name="adj" fmla="val 50000"/>
            </a:avLst>
          </a:prstGeom>
          <a:solidFill>
            <a:srgbClr val="E5EE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50392" y="2304288"/>
            <a:ext cx="201168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8000"/>
              </a:lnSpc>
              <a:spcAft>
                <a:spcPts val="700"/>
              </a:spcAft>
            </a:pPr>
            <a:r>
              <a:rPr sz="1000" b="1">
                <a:solidFill>
                  <a:srgbClr val="15402E"/>
                </a:solidFill>
                <a:latin typeface="Inter"/>
              </a:rPr>
              <a:t>✓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07008" y="2313432"/>
            <a:ext cx="4660239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700"/>
              </a:spcAft>
            </a:pPr>
            <a:r>
              <a:rPr sz="1200" b="0">
                <a:solidFill>
                  <a:srgbClr val="4A5A50"/>
                </a:solidFill>
                <a:latin typeface="Inter"/>
              </a:rPr>
              <a:t>Authentication with JWT and rotating refresh tokens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24447" y="2322576"/>
            <a:ext cx="237744" cy="237744"/>
          </a:xfrm>
          <a:prstGeom prst="roundRect">
            <a:avLst>
              <a:gd name="adj" fmla="val 50000"/>
            </a:avLst>
          </a:prstGeom>
          <a:solidFill>
            <a:srgbClr val="E5EE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51879" y="2304288"/>
            <a:ext cx="201168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8000"/>
              </a:lnSpc>
              <a:spcAft>
                <a:spcPts val="700"/>
              </a:spcAft>
            </a:pPr>
            <a:r>
              <a:rPr sz="1000" b="1">
                <a:solidFill>
                  <a:srgbClr val="15402E"/>
                </a:solidFill>
                <a:latin typeface="Inter"/>
              </a:rPr>
              <a:t>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708495" y="2313432"/>
            <a:ext cx="4660239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700"/>
              </a:spcAft>
            </a:pPr>
            <a:r>
              <a:rPr sz="1200" b="0">
                <a:solidFill>
                  <a:srgbClr val="4A5A50"/>
                </a:solidFill>
                <a:latin typeface="Inter"/>
              </a:rPr>
              <a:t>AI waste scan, with an honest manual fallback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22960" y="2825496"/>
            <a:ext cx="237744" cy="237744"/>
          </a:xfrm>
          <a:prstGeom prst="roundRect">
            <a:avLst>
              <a:gd name="adj" fmla="val 50000"/>
            </a:avLst>
          </a:prstGeom>
          <a:solidFill>
            <a:srgbClr val="E5EE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50392" y="2807208"/>
            <a:ext cx="201168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8000"/>
              </a:lnSpc>
              <a:spcAft>
                <a:spcPts val="700"/>
              </a:spcAft>
            </a:pPr>
            <a:r>
              <a:rPr sz="1000" b="1">
                <a:solidFill>
                  <a:srgbClr val="15402E"/>
                </a:solidFill>
                <a:latin typeface="Inter"/>
              </a:rPr>
              <a:t>✓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07008" y="2816351"/>
            <a:ext cx="4660239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700"/>
              </a:spcAft>
            </a:pPr>
            <a:r>
              <a:rPr sz="1200" b="0">
                <a:solidFill>
                  <a:srgbClr val="4A5A50"/>
                </a:solidFill>
                <a:latin typeface="Inter"/>
              </a:rPr>
              <a:t>Collection-point directory with distance search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324447" y="2825496"/>
            <a:ext cx="237744" cy="237744"/>
          </a:xfrm>
          <a:prstGeom prst="roundRect">
            <a:avLst>
              <a:gd name="adj" fmla="val 50000"/>
            </a:avLst>
          </a:prstGeom>
          <a:solidFill>
            <a:srgbClr val="E5EE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51879" y="2807208"/>
            <a:ext cx="201168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8000"/>
              </a:lnSpc>
              <a:spcAft>
                <a:spcPts val="700"/>
              </a:spcAft>
            </a:pPr>
            <a:r>
              <a:rPr sz="1000" b="1">
                <a:solidFill>
                  <a:srgbClr val="15402E"/>
                </a:solidFill>
                <a:latin typeface="Inter"/>
              </a:rPr>
              <a:t>✓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708495" y="2816351"/>
            <a:ext cx="4660239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700"/>
              </a:spcAft>
            </a:pPr>
            <a:r>
              <a:rPr sz="1200" b="0">
                <a:solidFill>
                  <a:srgbClr val="4A5A50"/>
                </a:solidFill>
                <a:latin typeface="Inter"/>
              </a:rPr>
              <a:t>Full pickup lifecycle, enforced server-side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22960" y="3328416"/>
            <a:ext cx="237744" cy="237744"/>
          </a:xfrm>
          <a:prstGeom prst="roundRect">
            <a:avLst>
              <a:gd name="adj" fmla="val 50000"/>
            </a:avLst>
          </a:prstGeom>
          <a:solidFill>
            <a:srgbClr val="E5EE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50392" y="3310128"/>
            <a:ext cx="201168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8000"/>
              </a:lnSpc>
              <a:spcAft>
                <a:spcPts val="700"/>
              </a:spcAft>
            </a:pPr>
            <a:r>
              <a:rPr sz="1000" b="1">
                <a:solidFill>
                  <a:srgbClr val="15402E"/>
                </a:solidFill>
                <a:latin typeface="Inter"/>
              </a:rPr>
              <a:t>✓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207008" y="3319272"/>
            <a:ext cx="4660239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700"/>
              </a:spcAft>
            </a:pPr>
            <a:r>
              <a:rPr sz="1200" b="0">
                <a:solidFill>
                  <a:srgbClr val="4A5A50"/>
                </a:solidFill>
                <a:latin typeface="Inter"/>
              </a:rPr>
              <a:t>Collector application and admin verification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324447" y="3328416"/>
            <a:ext cx="237744" cy="237744"/>
          </a:xfrm>
          <a:prstGeom prst="roundRect">
            <a:avLst>
              <a:gd name="adj" fmla="val 50000"/>
            </a:avLst>
          </a:prstGeom>
          <a:solidFill>
            <a:srgbClr val="E5EE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351879" y="3310128"/>
            <a:ext cx="201168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8000"/>
              </a:lnSpc>
              <a:spcAft>
                <a:spcPts val="700"/>
              </a:spcAft>
            </a:pPr>
            <a:r>
              <a:rPr sz="1000" b="1">
                <a:solidFill>
                  <a:srgbClr val="15402E"/>
                </a:solidFill>
                <a:latin typeface="Inter"/>
              </a:rPr>
              <a:t>✓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708495" y="3319272"/>
            <a:ext cx="4660239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700"/>
              </a:spcAft>
            </a:pPr>
            <a:r>
              <a:rPr sz="1200" b="0">
                <a:solidFill>
                  <a:srgbClr val="4A5A50"/>
                </a:solidFill>
                <a:latin typeface="Inter"/>
              </a:rPr>
              <a:t>Notifications for every state change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22960" y="3831336"/>
            <a:ext cx="237744" cy="237744"/>
          </a:xfrm>
          <a:prstGeom prst="roundRect">
            <a:avLst>
              <a:gd name="adj" fmla="val 50000"/>
            </a:avLst>
          </a:prstGeom>
          <a:solidFill>
            <a:srgbClr val="E5EE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50392" y="3813048"/>
            <a:ext cx="201168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8000"/>
              </a:lnSpc>
              <a:spcAft>
                <a:spcPts val="700"/>
              </a:spcAft>
            </a:pPr>
            <a:r>
              <a:rPr sz="1000" b="1">
                <a:solidFill>
                  <a:srgbClr val="15402E"/>
                </a:solidFill>
                <a:latin typeface="Inter"/>
              </a:rPr>
              <a:t>✓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207008" y="3822192"/>
            <a:ext cx="4660239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700"/>
              </a:spcAft>
            </a:pPr>
            <a:r>
              <a:rPr sz="1200" b="0">
                <a:solidFill>
                  <a:srgbClr val="4A5A50"/>
                </a:solidFill>
                <a:latin typeface="Inter"/>
              </a:rPr>
              <a:t>Recycling history and measured impact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324447" y="3831336"/>
            <a:ext cx="237744" cy="237744"/>
          </a:xfrm>
          <a:prstGeom prst="roundRect">
            <a:avLst>
              <a:gd name="adj" fmla="val 50000"/>
            </a:avLst>
          </a:prstGeom>
          <a:solidFill>
            <a:srgbClr val="E5EE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351879" y="3813048"/>
            <a:ext cx="201168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8000"/>
              </a:lnSpc>
              <a:spcAft>
                <a:spcPts val="700"/>
              </a:spcAft>
            </a:pPr>
            <a:r>
              <a:rPr sz="1000" b="1">
                <a:solidFill>
                  <a:srgbClr val="15402E"/>
                </a:solidFill>
                <a:latin typeface="Inter"/>
              </a:rPr>
              <a:t>✓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708495" y="3822192"/>
            <a:ext cx="4660239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700"/>
              </a:spcAft>
            </a:pPr>
            <a:r>
              <a:rPr sz="1200" b="0">
                <a:solidFill>
                  <a:srgbClr val="4A5A50"/>
                </a:solidFill>
                <a:latin typeface="Inter"/>
              </a:rPr>
              <a:t>Admin console: users, partners, catalog, analytics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22960" y="4407408"/>
            <a:ext cx="10545775" cy="146304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DCE6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822960" y="4553712"/>
            <a:ext cx="68580" cy="1170432"/>
          </a:xfrm>
          <a:prstGeom prst="roundRect">
            <a:avLst>
              <a:gd name="adj" fmla="val 50000"/>
            </a:avLst>
          </a:prstGeom>
          <a:solidFill>
            <a:srgbClr val="154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133856" y="4626864"/>
            <a:ext cx="9923983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700"/>
              </a:spcAft>
            </a:pPr>
            <a:r>
              <a:rPr sz="1400" b="1">
                <a:solidFill>
                  <a:srgbClr val="15402E"/>
                </a:solidFill>
                <a:latin typeface="Inter"/>
              </a:rPr>
              <a:t>The demo path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133856" y="5047488"/>
            <a:ext cx="9923983" cy="60350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500"/>
              </a:spcAft>
            </a:pPr>
            <a:r>
              <a:rPr sz="1200" b="0">
                <a:solidFill>
                  <a:srgbClr val="4A5A50"/>
                </a:solidFill>
                <a:latin typeface="Inter"/>
              </a:rPr>
              <a:t>docker compose up  →  scan an item  →  book a pickup  →  a verified collector weighs it  →  mark it recycled  →  read the measured impact and history.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45720" y="-45720"/>
            <a:ext cx="12283135" cy="6949440"/>
          </a:xfrm>
          <a:prstGeom prst="rect">
            <a:avLst/>
          </a:prstGeom>
          <a:solidFill>
            <a:srgbClr val="F7FA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22960" y="6345936"/>
            <a:ext cx="10545775" cy="10972"/>
          </a:xfrm>
          <a:prstGeom prst="rect">
            <a:avLst/>
          </a:prstGeom>
          <a:solidFill>
            <a:srgbClr val="DCE6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6437376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700"/>
              </a:spcAft>
            </a:pPr>
            <a:r>
              <a:rPr sz="950" b="0">
                <a:solidFill>
                  <a:srgbClr val="7C8C82"/>
                </a:solidFill>
                <a:latin typeface="Inter"/>
              </a:rPr>
              <a:t>ReLoop  ·  Team TechGaint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271455" y="6437376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8000"/>
              </a:lnSpc>
              <a:spcAft>
                <a:spcPts val="700"/>
              </a:spcAft>
            </a:pPr>
            <a:r>
              <a:rPr sz="950" b="0">
                <a:solidFill>
                  <a:srgbClr val="7C8C82"/>
                </a:solidFill>
                <a:latin typeface="Inter"/>
              </a:rPr>
              <a:t>11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12191695" cy="77724"/>
          </a:xfrm>
          <a:prstGeom prst="rect">
            <a:avLst/>
          </a:prstGeom>
          <a:solidFill>
            <a:srgbClr val="154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45720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700"/>
              </a:spcAft>
            </a:pPr>
            <a:r>
              <a:rPr sz="1150" b="1">
                <a:solidFill>
                  <a:srgbClr val="5B7A63"/>
                </a:solidFill>
                <a:latin typeface="Inter"/>
              </a:rPr>
              <a:t>THE ASK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749808"/>
            <a:ext cx="10545775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3000" b="1">
                <a:solidFill>
                  <a:srgbClr val="15402E"/>
                </a:solidFill>
                <a:latin typeface="Inter"/>
              </a:rPr>
              <a:t>Pilot ReLoop with your network.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1591056"/>
            <a:ext cx="99669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700"/>
              </a:spcAft>
            </a:pPr>
            <a:r>
              <a:rPr sz="1300" b="0">
                <a:solidFill>
                  <a:srgbClr val="4A5A50"/>
                </a:solidFill>
                <a:latin typeface="Inter"/>
              </a:rPr>
              <a:t>We have the platform. A pilot needs one city and a route for the material.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" y="2468880"/>
            <a:ext cx="5090007" cy="292608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DCE6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822960" y="2615184"/>
            <a:ext cx="68580" cy="2633472"/>
          </a:xfrm>
          <a:prstGeom prst="roundRect">
            <a:avLst>
              <a:gd name="adj" fmla="val 50000"/>
            </a:avLst>
          </a:prstGeom>
          <a:solidFill>
            <a:srgbClr val="154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33856" y="2688336"/>
            <a:ext cx="446821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700"/>
              </a:spcAft>
            </a:pPr>
            <a:r>
              <a:rPr sz="1700" b="1">
                <a:solidFill>
                  <a:srgbClr val="15402E"/>
                </a:solidFill>
                <a:latin typeface="Inter"/>
              </a:rPr>
              <a:t>What we need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33856" y="3108960"/>
            <a:ext cx="4468215" cy="206654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500"/>
              </a:spcAft>
            </a:pPr>
            <a:r>
              <a:rPr sz="1250" b="0">
                <a:solidFill>
                  <a:srgbClr val="4A5A50"/>
                </a:solidFill>
                <a:latin typeface="Inter"/>
              </a:rPr>
              <a:t>One city, a handful of verified collectors, and a partner willing to receive the material we recover. We handle onboarding, vetting and reporting.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78727" y="2468880"/>
            <a:ext cx="5090007" cy="292608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DCE6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278727" y="2615184"/>
            <a:ext cx="68580" cy="2633472"/>
          </a:xfrm>
          <a:prstGeom prst="roundRect">
            <a:avLst>
              <a:gd name="adj" fmla="val 50000"/>
            </a:avLst>
          </a:prstGeom>
          <a:solidFill>
            <a:srgbClr val="84A9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89623" y="2688336"/>
            <a:ext cx="446821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700"/>
              </a:spcAft>
            </a:pPr>
            <a:r>
              <a:rPr sz="1700" b="1">
                <a:solidFill>
                  <a:srgbClr val="15402E"/>
                </a:solidFill>
                <a:latin typeface="Inter"/>
              </a:rPr>
              <a:t>What you get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9623" y="3108960"/>
            <a:ext cx="4468215" cy="206654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500"/>
              </a:spcAft>
            </a:pPr>
            <a:r>
              <a:rPr sz="1250" b="0">
                <a:solidFill>
                  <a:srgbClr val="4A5A50"/>
                </a:solidFill>
                <a:latin typeface="Inter"/>
              </a:rPr>
              <a:t>A working platform, honest measured reporting with a documented method, and a repeatable one-command deployment you can host yourself.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" y="5623560"/>
            <a:ext cx="1054577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700"/>
              </a:spcAft>
            </a:pPr>
            <a:r>
              <a:rPr sz="1200" b="0">
                <a:solidFill>
                  <a:srgbClr val="7C8C82"/>
                </a:solidFill>
                <a:latin typeface="Inter"/>
              </a:rPr>
              <a:t>Code, tests, migrations, Docker setup and documentation are all in the repository — this is an engineering result, not a concept.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45720" y="-45720"/>
            <a:ext cx="12283135" cy="6949440"/>
          </a:xfrm>
          <a:prstGeom prst="rect">
            <a:avLst/>
          </a:prstGeom>
          <a:solidFill>
            <a:srgbClr val="F7FA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22960" y="6345936"/>
            <a:ext cx="10545775" cy="10972"/>
          </a:xfrm>
          <a:prstGeom prst="rect">
            <a:avLst/>
          </a:prstGeom>
          <a:solidFill>
            <a:srgbClr val="DCE6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6437376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700"/>
              </a:spcAft>
            </a:pPr>
            <a:r>
              <a:rPr sz="950" b="0">
                <a:solidFill>
                  <a:srgbClr val="7C8C82"/>
                </a:solidFill>
                <a:latin typeface="Inter"/>
              </a:rPr>
              <a:t>ReLoop  ·  Team TechGaint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271455" y="6437376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8000"/>
              </a:lnSpc>
              <a:spcAft>
                <a:spcPts val="700"/>
              </a:spcAft>
            </a:pPr>
            <a:r>
              <a:rPr sz="950" b="0">
                <a:solidFill>
                  <a:srgbClr val="7C8C82"/>
                </a:solidFill>
                <a:latin typeface="Inter"/>
              </a:rPr>
              <a:t>12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12191695" cy="100584"/>
          </a:xfrm>
          <a:prstGeom prst="rect">
            <a:avLst/>
          </a:prstGeom>
          <a:solidFill>
            <a:srgbClr val="154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2148840"/>
            <a:ext cx="10545775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700"/>
              </a:spcAft>
            </a:pPr>
            <a:r>
              <a:rPr sz="3800" b="1">
                <a:solidFill>
                  <a:srgbClr val="15402E"/>
                </a:solidFill>
                <a:latin typeface="Inter"/>
              </a:rPr>
              <a:t>Give every piece of waste a better destination.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4114800"/>
            <a:ext cx="86868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700"/>
              </a:spcAft>
            </a:pPr>
            <a:r>
              <a:rPr sz="1450" b="0">
                <a:solidFill>
                  <a:srgbClr val="4A5A50"/>
                </a:solidFill>
                <a:latin typeface="Inter"/>
              </a:rPr>
              <a:t>A measured record of waste returning to circulation — not a promise that it was recycled.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" y="5074920"/>
            <a:ext cx="2148840" cy="384048"/>
          </a:xfrm>
          <a:prstGeom prst="roundRect">
            <a:avLst>
              <a:gd name="adj" fmla="val 50000"/>
            </a:avLst>
          </a:prstGeom>
          <a:solidFill>
            <a:srgbClr val="154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5170932"/>
            <a:ext cx="214884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8000"/>
              </a:lnSpc>
              <a:spcAft>
                <a:spcPts val="700"/>
              </a:spcAft>
            </a:pPr>
            <a:r>
              <a:rPr sz="1200" b="1">
                <a:solidFill>
                  <a:srgbClr val="FFFFFF"/>
                </a:solidFill>
                <a:latin typeface="Inter"/>
              </a:rPr>
              <a:t>Team TechGaint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91840" y="5138928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700"/>
              </a:spcAft>
            </a:pPr>
            <a:r>
              <a:rPr sz="1200" b="0">
                <a:solidFill>
                  <a:srgbClr val="7C8C82"/>
                </a:solidFill>
                <a:latin typeface="Inter"/>
              </a:rPr>
              <a:t>Thank you  ·  github.com/Pavan3030-pr/Reloop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ReLoop — Give every piece of waste a better destination</dc:title>
  <dc:subject>SANKALP Climate Edition — ReLoop pitch deck</dc:subject>
  <dc:creator>Team TechGaint</dc:creator>
  <cp:keywords/>
  <dc:description>Generated by scripts/build-pitch-deck.py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
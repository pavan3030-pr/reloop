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one-line promise. ReLoop closes the loop between a household item and measured material recovery.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Recycling fails at the moment of decision, long before a facility. Residents cannot answer five simple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steps. Scan, understand, connect, recover. Every step exists in the working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apps estimate impact from scans. ReLoop only counts weight a verified collector recorded on site, and labels CO2e as an estimate with a published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directly to the contest themes. Impact is quantified per material using the published coefficients.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Pilot one city with a handful of collectors, add city operators and municipal partners, then expand. The architecture is already stateless and containerised.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each member and role. Close with the ask: selection to the next round and a pilot-city partnership.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4F8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8FBF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4A41"/>
                </a:solidFill>
              </a:rPr>
              <a:t>ReLoop · SANKALP Climate Edition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F6B3A"/>
                </a:solidFill>
              </a:rPr>
              <a:t>SANKALP · THE CLIMATE EDITION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920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0F1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ReLoop</a:t>
            </a:r>
            <a:endParaRPr lang="en-US" sz="7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B3A"/>
                </a:solidFill>
              </a:rPr>
              <a:t>Give every piece of waste a better destination.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A4A41"/>
                </a:solidFill>
              </a:rPr>
              <a:t>AI identification  ·  verified collectors  ·  measured recovery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B3A"/>
                </a:solidFill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Most waste is thrown away on a guess.</a:t>
            </a:r>
            <a:endParaRPr lang="en-US" sz="34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011680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1645920" y="2011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C16"/>
                </a:solidFill>
              </a:rPr>
              <a:t>What is this material, really?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822960" y="2651760"/>
            <a:ext cx="10515600" cy="0"/>
          </a:xfrm>
          <a:prstGeom prst="line">
            <a:avLst/>
          </a:prstGeom>
          <a:noFill/>
          <a:ln w="9525">
            <a:solidFill>
              <a:srgbClr val="D4D9C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2816352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1645920" y="2816352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C16"/>
                </a:solidFill>
              </a:rPr>
              <a:t>Can it be recycled — or is it hazardous?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822960" y="3456432"/>
            <a:ext cx="10515600" cy="0"/>
          </a:xfrm>
          <a:prstGeom prst="line">
            <a:avLst/>
          </a:prstGeom>
          <a:noFill/>
          <a:ln w="9525">
            <a:solidFill>
              <a:srgbClr val="D4D9C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621024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2" name="Text 9"/>
          <p:cNvSpPr txBox="1"/>
          <p:nvPr/>
        </p:nvSpPr>
        <p:spPr>
          <a:xfrm>
            <a:off x="1645920" y="3621024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C16"/>
                </a:solidFill>
              </a:rPr>
              <a:t>Where do I take it, and will they accept it?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822960" y="4261104"/>
            <a:ext cx="10515600" cy="0"/>
          </a:xfrm>
          <a:prstGeom prst="line">
            <a:avLst/>
          </a:prstGeom>
          <a:noFill/>
          <a:ln w="9525">
            <a:solidFill>
              <a:srgbClr val="D4D9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22960" y="4425696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645920" y="4425696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C16"/>
                </a:solidFill>
              </a:rPr>
              <a:t>Is a pickup available in my area?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822960" y="5065776"/>
            <a:ext cx="10515600" cy="0"/>
          </a:xfrm>
          <a:prstGeom prst="line">
            <a:avLst/>
          </a:prstGeom>
          <a:noFill/>
          <a:ln w="9525">
            <a:solidFill>
              <a:srgbClr val="D4D9C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2960" y="5230368"/>
            <a:ext cx="731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FBF4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18" name="Text 15"/>
          <p:cNvSpPr txBox="1"/>
          <p:nvPr/>
        </p:nvSpPr>
        <p:spPr>
          <a:xfrm>
            <a:off x="1645920" y="523036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F1C16"/>
                </a:solidFill>
              </a:rPr>
              <a:t>What happened after it was collected?</a:t>
            </a:r>
            <a:endParaRPr lang="en-US" sz="2200" dirty="0"/>
          </a:p>
        </p:txBody>
      </p:sp>
      <p:sp>
        <p:nvSpPr>
          <p:cNvPr id="19" name="Shape 16"/>
          <p:cNvSpPr/>
          <p:nvPr/>
        </p:nvSpPr>
        <p:spPr>
          <a:xfrm>
            <a:off x="822960" y="5870448"/>
            <a:ext cx="10515600" cy="0"/>
          </a:xfrm>
          <a:prstGeom prst="line">
            <a:avLst/>
          </a:prstGeom>
          <a:noFill/>
          <a:ln w="9525">
            <a:solidFill>
              <a:srgbClr val="D4D9C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B3A"/>
                </a:solidFill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loop, from uncertain to recovered.</a:t>
            </a:r>
            <a:endParaRPr lang="en-US" sz="3400" dirty="0"/>
          </a:p>
        </p:txBody>
      </p:sp>
      <p:sp>
        <p:nvSpPr>
          <p:cNvPr id="5" name="card Scan"/>
          <p:cNvSpPr/>
          <p:nvPr/>
        </p:nvSpPr>
        <p:spPr>
          <a:xfrm>
            <a:off x="54864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3A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Scan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Photograph an item, or add it manually if the picture is unclear.</a:t>
            </a:r>
            <a:endParaRPr lang="en-US" sz="1400" dirty="0"/>
          </a:p>
        </p:txBody>
      </p:sp>
      <p:sp>
        <p:nvSpPr>
          <p:cNvPr id="9" name="card Understand"/>
          <p:cNvSpPr/>
          <p:nvPr/>
        </p:nvSpPr>
        <p:spPr>
          <a:xfrm>
            <a:off x="338328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65760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3A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365760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Understand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365760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AI returns material, recyclability, hazard warnings and disposal guidance.</a:t>
            </a:r>
            <a:endParaRPr lang="en-US" sz="1400" dirty="0"/>
          </a:p>
        </p:txBody>
      </p:sp>
      <p:sp>
        <p:nvSpPr>
          <p:cNvPr id="13" name="card Connect"/>
          <p:cNvSpPr/>
          <p:nvPr/>
        </p:nvSpPr>
        <p:spPr>
          <a:xfrm>
            <a:off x="621792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9224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3A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Connect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Find a verified collection point or book a pickup from a verified collector.</a:t>
            </a:r>
            <a:endParaRPr lang="en-US" sz="1400" dirty="0"/>
          </a:p>
        </p:txBody>
      </p:sp>
      <p:sp>
        <p:nvSpPr>
          <p:cNvPr id="17" name="card Recover"/>
          <p:cNvSpPr/>
          <p:nvPr/>
        </p:nvSpPr>
        <p:spPr>
          <a:xfrm>
            <a:off x="9052560" y="2011680"/>
            <a:ext cx="2651760" cy="329184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326880" y="22402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F6B3A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326880" y="260604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Recover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9326880" y="3108960"/>
            <a:ext cx="2103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Collector weighs on site; the pickup moves to processing and recovery.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Web app: React + TypeScript · Spring Boot 3 / Java 21 · PostgreSQL · JWT · Gemini vision (server-side only)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B3A"/>
                </a:solidFill>
              </a:rPr>
              <a:t>INNOVATION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you can defend: only weighed waste counts.</a:t>
            </a:r>
            <a:endParaRPr lang="en-US" sz="3400" dirty="0"/>
          </a:p>
        </p:txBody>
      </p:sp>
      <p:sp>
        <p:nvSpPr>
          <p:cNvPr id="5" name="card Measured, not guessed"/>
          <p:cNvSpPr/>
          <p:nvPr/>
        </p:nvSpPr>
        <p:spPr>
          <a:xfrm>
            <a:off x="548640" y="18288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Measured, not guessed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Only the on-site weighed quantity feeds history and impact. Scans and estimates never do.</a:t>
            </a:r>
            <a:endParaRPr lang="en-US" sz="1400" dirty="0"/>
          </a:p>
        </p:txBody>
      </p:sp>
      <p:sp>
        <p:nvSpPr>
          <p:cNvPr id="8" name="card Honest AI"/>
          <p:cNvSpPr/>
          <p:nvPr/>
        </p:nvSpPr>
        <p:spPr>
          <a:xfrm>
            <a:off x="6217920" y="182880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1031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Honest AI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60604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Gemini is called only from the backend. If it is unavailable the app says so and falls back to manual entry — nothing is fabricated.</a:t>
            </a:r>
            <a:endParaRPr lang="en-US" sz="1400" dirty="0"/>
          </a:p>
        </p:txBody>
      </p:sp>
      <p:sp>
        <p:nvSpPr>
          <p:cNvPr id="11" name="card Verified, two-sided network"/>
          <p:cNvSpPr/>
          <p:nvPr/>
        </p:nvSpPr>
        <p:spPr>
          <a:xfrm>
            <a:off x="548640" y="40233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Verified, two-sided network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4800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Residents, collectors and admins each get a role-based workspace. Collectors are approved before they see a job.</a:t>
            </a:r>
            <a:endParaRPr lang="en-US" sz="1400" dirty="0"/>
          </a:p>
        </p:txBody>
      </p:sp>
      <p:sp>
        <p:nvSpPr>
          <p:cNvPr id="14" name="card Transparent CO2e"/>
          <p:cNvSpPr/>
          <p:nvPr/>
        </p:nvSpPr>
        <p:spPr>
          <a:xfrm>
            <a:off x="6217920" y="4023360"/>
            <a:ext cx="548640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42976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Transparent CO2e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80060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Conservative per-material coefficients, published in docs/IMPACT.md, flagged as approximate everywhere.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B3A"/>
                </a:solidFill>
              </a:rPr>
              <a:t>IMPACT &amp; FIT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four Climate Edition challenge areas.</a:t>
            </a:r>
            <a:endParaRPr lang="en-US" sz="3400" dirty="0"/>
          </a:p>
        </p:txBody>
      </p:sp>
      <p:sp>
        <p:nvSpPr>
          <p:cNvPr id="5" name="card Waste Management"/>
          <p:cNvSpPr/>
          <p:nvPr/>
        </p:nvSpPr>
        <p:spPr>
          <a:xfrm>
            <a:off x="548640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Waste Management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AI-guided sorting and booked pickups keep recyclables out of landfill.</a:t>
            </a:r>
            <a:endParaRPr lang="en-US" sz="1400" dirty="0"/>
          </a:p>
        </p:txBody>
      </p:sp>
      <p:sp>
        <p:nvSpPr>
          <p:cNvPr id="8" name="card Circular Economy"/>
          <p:cNvSpPr/>
          <p:nvPr/>
        </p:nvSpPr>
        <p:spPr>
          <a:xfrm>
            <a:off x="3383280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Circular Economy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27889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Material is traced through processing to recovery as feedstock.</a:t>
            </a:r>
            <a:endParaRPr lang="en-US" sz="1400" dirty="0"/>
          </a:p>
        </p:txBody>
      </p:sp>
      <p:sp>
        <p:nvSpPr>
          <p:cNvPr id="11" name="card Sustainable Cities"/>
          <p:cNvSpPr/>
          <p:nvPr/>
        </p:nvSpPr>
        <p:spPr>
          <a:xfrm>
            <a:off x="6217920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Sustainable Cities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27889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Live map of verified collection points and collectors per city.</a:t>
            </a:r>
            <a:endParaRPr lang="en-US" sz="1400" dirty="0"/>
          </a:p>
        </p:txBody>
      </p:sp>
      <p:sp>
        <p:nvSpPr>
          <p:cNvPr id="14" name="card Climate Tech"/>
          <p:cNvSpPr/>
          <p:nvPr/>
        </p:nvSpPr>
        <p:spPr>
          <a:xfrm>
            <a:off x="9052560" y="2011680"/>
            <a:ext cx="2651760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32688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Climate Tech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9326880" y="2788920"/>
            <a:ext cx="21031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Recovered kg converted to kg CO2e avoided with a transparent method.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46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3A"/>
                </a:solidFill>
              </a:rPr>
              <a:t>Example coefficients (kg CO2e avoided per kg): Metal 4.0 · Textile 2.0 · Plastic 1.5 · E-waste 1.5 · Paper 1.0 · Glass 0.3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4A41"/>
                </a:solidFill>
              </a:rPr>
              <a:t>Indicative only — not for carbon accounting or offset claims.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B3A"/>
                </a:solidFill>
              </a:rPr>
              <a:t>IMPLEMENTATION &amp; SCALE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city pilot to a national recovery network.</a:t>
            </a:r>
            <a:endParaRPr lang="en-US" sz="3400" dirty="0"/>
          </a:p>
        </p:txBody>
      </p:sp>
      <p:sp>
        <p:nvSpPr>
          <p:cNvPr id="5" name="card Phase 1 · Pilot"/>
          <p:cNvSpPr/>
          <p:nvPr/>
        </p:nvSpPr>
        <p:spPr>
          <a:xfrm>
            <a:off x="548640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Phase 1 · Pilot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One city, verified collectors and collection points, live weighed-impact dashboard.</a:t>
            </a:r>
            <a:endParaRPr lang="en-US" sz="1400" dirty="0"/>
          </a:p>
        </p:txBody>
      </p:sp>
      <p:sp>
        <p:nvSpPr>
          <p:cNvPr id="8" name="card Phase 2 · Partners"/>
          <p:cNvSpPr/>
          <p:nvPr/>
        </p:nvSpPr>
        <p:spPr>
          <a:xfrm>
            <a:off x="4343400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1772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Phase 2 · Partners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617720" y="278892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Kabadiwalas, RWAs and municipal bodies onboard through the admin console; SMS and WhatsApp alerts.</a:t>
            </a:r>
            <a:endParaRPr lang="en-US" sz="1400" dirty="0"/>
          </a:p>
        </p:txBody>
      </p:sp>
      <p:sp>
        <p:nvSpPr>
          <p:cNvPr id="11" name="card Phase 3 · Scale"/>
          <p:cNvSpPr/>
          <p:nvPr/>
        </p:nvSpPr>
        <p:spPr>
          <a:xfrm>
            <a:off x="8138160" y="2011680"/>
            <a:ext cx="361188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412480" y="22860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Phase 3 · Scale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8412480" y="2788920"/>
            <a:ext cx="30632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Multi-city rollout, cloud object storage, producer-EPR reporting from verified weights.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Ready today: JWT auth · Flyway migrations · OpenAPI docs · CORS allow-list · integration tests · Docker Compose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F6B3A"/>
                </a:solidFill>
              </a:rPr>
              <a:t>TEAM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85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0F1C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team and the ask.</a:t>
            </a:r>
            <a:endParaRPr lang="en-US" sz="3400" dirty="0"/>
          </a:p>
        </p:txBody>
      </p:sp>
      <p:sp>
        <p:nvSpPr>
          <p:cNvPr id="5" name="card Team"/>
          <p:cNvSpPr/>
          <p:nvPr/>
        </p:nvSpPr>
        <p:spPr>
          <a:xfrm>
            <a:off x="548640" y="2011680"/>
            <a:ext cx="548640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22860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Team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788920"/>
            <a:ext cx="49377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Team leader: ______________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Member 2: ______________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Member 3: ______________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Member 4: ______________</a:t>
            </a:r>
            <a:endParaRPr lang="en-US" sz="1400" dirty="0"/>
          </a:p>
        </p:txBody>
      </p:sp>
      <p:sp>
        <p:nvSpPr>
          <p:cNvPr id="8" name="card The ask"/>
          <p:cNvSpPr/>
          <p:nvPr/>
        </p:nvSpPr>
        <p:spPr>
          <a:xfrm>
            <a:off x="6217920" y="2011680"/>
            <a:ext cx="539496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D4D9C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22860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C16"/>
                </a:solidFill>
              </a:rPr>
              <a:t>The ask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788920"/>
            <a:ext cx="484632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Advance to the Virtual Presentation Round.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A4A41"/>
                </a:solidFill>
              </a:rPr>
              <a:t>A pilot-city partnership with Satin Finserv and partners to put verified collectors on the platform.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6B3A"/>
                </a:solidFill>
              </a:rPr>
              <a:t>github.com/Pavan3030-pr/Reloop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4652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3A4A41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Loop">
  <a:themeElements>
    <a:clrScheme name="ReLoop">
      <a:dk1>
        <a:srgbClr val="0F1C16"/>
      </a:dk1>
      <a:lt1>
        <a:srgbClr val="FFFFFF"/>
      </a:lt1>
      <a:dk2>
        <a:srgbClr val="2F6B3A"/>
      </a:dk2>
      <a:lt2>
        <a:srgbClr val="F4F8EC"/>
      </a:lt2>
      <a:accent1>
        <a:srgbClr val="8FBF4D"/>
      </a:accent1>
      <a:accent2>
        <a:srgbClr val="2F6B3A"/>
      </a:accent2>
      <a:accent3>
        <a:srgbClr val="E9F2D8"/>
      </a:accent3>
      <a:accent4>
        <a:srgbClr val="3A4A41"/>
      </a:accent4>
      <a:accent5>
        <a:srgbClr val="D4D9CF"/>
      </a:accent5>
      <a:accent6>
        <a:srgbClr val="B7791F"/>
      </a:accent6>
      <a:hlink>
        <a:srgbClr val="2F6B3A"/>
      </a:hlink>
      <a:folHlink>
        <a:srgbClr val="3A4A41"/>
      </a:folHlink>
    </a:clrScheme>
    <a:fontScheme name="ReLoop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ReLoop — SANKALP Climate Edition</dc:title>
  <dc:subject>PptxGenJS Presentation</dc:subject>
  <dc:creator>PptxGenJS</dc:creator>
  <cp:lastModifiedBy>PptxGenJS</cp:lastModifiedBy>
  <cp:revision>1</cp:revision>
  <dcterms:created xsi:type="dcterms:W3CDTF">2026-10-04T04:50:25Z</dcterms:created>
  <dcterms:modified xsi:type="dcterms:W3CDTF">2026-10-04T04:50:25Z</dcterms:modified>
</cp:coreProperties>
</file>